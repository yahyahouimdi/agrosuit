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3.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662a632-d500-87b3-182f-731cc81e5ef6}">
          <p14:sldIdLst>
            <p14:sldId id="256"/>
            <p14:sldId id="257"/>
            <p14:sldId id="258"/>
          </p14:sldIdLst>
        </p14:section>
        <p14:section name="Method" id="{59bb6ec7-7065-454e-8c1b-1a50fd974ead}">
          <p14:sldIdLst>
            <p14:sldId id="259"/>
            <p14:sldId id="260"/>
            <p14:sldId id="261"/>
            <p14:sldId id="262"/>
          </p14:sldIdLst>
        </p14:section>
        <p14:section name="Product" id="{b080c4bf-a128-2b90-fec3-83990e3c7aa6}">
          <p14:sldIdLst>
            <p14:sldId id="263"/>
            <p14:sldId id="264"/>
            <p14:sldId id="265"/>
          </p14:sldIdLst>
        </p14:section>
        <p14:section name="Results" id="{52e490c6-baa6-b98b-451d-1917ad8fa95b}">
          <p14:sldIdLst>
            <p14:sldId id="266"/>
            <p14:sldId id="267"/>
            <p14:sldId id="268"/>
          </p14:sldIdLst>
        </p14:section>
        <p14:section name="Conclusion" id="{0433a966-59b0-318e-da72-5b6640e9e253}">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0F2E1D"/>
                </a:solidFill>
                <a:latin typeface="+mn-lt"/>
              </a:defRPr>
            </a:pPr>
            <a:r>
              <a:rPr sz="1500" b="0" i="0" u="none" strike="noStrike">
                <a:solidFill>
                  <a:srgbClr val="0F2E1D"/>
                </a:solidFill>
                <a:latin typeface="+mn-lt"/>
              </a:rPr>
              <a:t>Durum wheat · annual rainfall (mm)</a:t>
            </a:r>
          </a:p>
        </c:rich>
      </c:tx>
      <c:layout/>
      <c:overlay val="0"/>
    </c:title>
    <c:autoTitleDeleted val="0"/>
    <c:plotArea>
      <c:layout/>
      <c:lineChart>
        <c:varyColors val="0"/>
        <c:ser>
          <c:idx val="0"/>
          <c:order val="0"/>
          <c:tx>
            <c:strRef>
              <c:f>Sheet1!$B$1</c:f>
              <c:strCache>
                <c:ptCount val="1"/>
                <c:pt idx="0">
                  <c:v>Membership</c:v>
                </c:pt>
              </c:strCache>
            </c:strRef>
          </c:tx>
          <c:spPr>
            <a:solidFill>
              <a:srgbClr val="2E7D32"/>
            </a:solidFill>
            <a:ln w="38100" cap="flat">
              <a:solidFill>
                <a:srgbClr val="2E7D3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E7D32"/>
              </a:solidFill>
              <a:ln w="9525" cap="flat">
                <a:solidFill>
                  <a:srgbClr val="2E7D32"/>
                </a:solidFill>
                <a:prstDash val="solid"/>
                <a:round/>
              </a:ln>
              <a:effectLst/>
            </c:spPr>
          </c:marker>
          <c:cat>
            <c:multiLvlStrRef>
              <c:f>Sheet1!$A$2:$A$25</c:f>
              <c:multiLvlStrCache>
                <c:ptCount val="24"/>
                <c:lvl>
                  <c:pt idx="0">
                    <c:v>100</c:v>
                  </c:pt>
                  <c:pt idx="1">
                    <c:v>150</c:v>
                  </c:pt>
                  <c:pt idx="2">
                    <c:v>200</c:v>
                  </c:pt>
                  <c:pt idx="3">
                    <c:v>250</c:v>
                  </c:pt>
                  <c:pt idx="4">
                    <c:v>300</c:v>
                  </c:pt>
                  <c:pt idx="5">
                    <c:v>350</c:v>
                  </c:pt>
                  <c:pt idx="6">
                    <c:v>400</c:v>
                  </c:pt>
                  <c:pt idx="7">
                    <c:v>450</c:v>
                  </c:pt>
                  <c:pt idx="8">
                    <c:v>500</c:v>
                  </c:pt>
                  <c:pt idx="9">
                    <c:v>550</c:v>
                  </c:pt>
                  <c:pt idx="10">
                    <c:v>600</c:v>
                  </c:pt>
                  <c:pt idx="11">
                    <c:v>650</c:v>
                  </c:pt>
                  <c:pt idx="12">
                    <c:v>700</c:v>
                  </c:pt>
                  <c:pt idx="13">
                    <c:v>750</c:v>
                  </c:pt>
                  <c:pt idx="14">
                    <c:v>800</c:v>
                  </c:pt>
                  <c:pt idx="15">
                    <c:v>850</c:v>
                  </c:pt>
                  <c:pt idx="16">
                    <c:v>900</c:v>
                  </c:pt>
                  <c:pt idx="17">
                    <c:v>950</c:v>
                  </c:pt>
                  <c:pt idx="18">
                    <c:v>1000</c:v>
                  </c:pt>
                  <c:pt idx="19">
                    <c:v>1050</c:v>
                  </c:pt>
                  <c:pt idx="20">
                    <c:v>1100</c:v>
                  </c:pt>
                  <c:pt idx="21">
                    <c:v>1150</c:v>
                  </c:pt>
                  <c:pt idx="22">
                    <c:v>1200</c:v>
                  </c:pt>
                  <c:pt idx="23">
                    <c:v>1250</c:v>
                  </c:pt>
                </c:lvl>
              </c:multiLvlStrCache>
            </c:multiLvlStrRef>
          </c:cat>
          <c:val>
            <c:numRef>
              <c:f>Sheet1!$B$2:$B$25</c:f>
              <c:numCache>
                <c:formatCode>General</c:formatCode>
                <c:ptCount val="24"/>
                <c:pt idx="0">
                  <c:v>0</c:v>
                </c:pt>
                <c:pt idx="1">
                  <c:v>0</c:v>
                </c:pt>
                <c:pt idx="2">
                  <c:v>0</c:v>
                </c:pt>
                <c:pt idx="3">
                  <c:v>0</c:v>
                </c:pt>
                <c:pt idx="4">
                  <c:v>0.3333333333333333</c:v>
                </c:pt>
                <c:pt idx="5">
                  <c:v>0.6666666666666666</c:v>
                </c:pt>
                <c:pt idx="6">
                  <c:v>1</c:v>
                </c:pt>
                <c:pt idx="7">
                  <c:v>1</c:v>
                </c:pt>
                <c:pt idx="8">
                  <c:v>1</c:v>
                </c:pt>
                <c:pt idx="9">
                  <c:v>1</c:v>
                </c:pt>
                <c:pt idx="10">
                  <c:v>1</c:v>
                </c:pt>
                <c:pt idx="11">
                  <c:v>1</c:v>
                </c:pt>
                <c:pt idx="12">
                  <c:v>1</c:v>
                </c:pt>
                <c:pt idx="13">
                  <c:v>0.875</c:v>
                </c:pt>
                <c:pt idx="14">
                  <c:v>0.75</c:v>
                </c:pt>
                <c:pt idx="15">
                  <c:v>0.625</c:v>
                </c:pt>
                <c:pt idx="16">
                  <c:v>0.5</c:v>
                </c:pt>
                <c:pt idx="17">
                  <c:v>0.375</c:v>
                </c:pt>
                <c:pt idx="18">
                  <c:v>0.25</c:v>
                </c:pt>
                <c:pt idx="19">
                  <c:v>0.125</c:v>
                </c:pt>
                <c:pt idx="20">
                  <c:v>0</c:v>
                </c:pt>
                <c:pt idx="21">
                  <c:v>0</c:v>
                </c:pt>
                <c:pt idx="22">
                  <c:v>0</c:v>
                </c:pt>
                <c:pt idx="23">
                  <c:v>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A70"/>
                </a:solidFill>
                <a:latin typeface="+mn-lt"/>
              </a:defRPr>
            </a:pPr>
            <a:endParaRPr lang="en-US"/>
          </a:p>
        </c:txPr>
        <c:crossAx val="2094734552"/>
        <c:crosses val="autoZero"/>
        <c:auto val="1"/>
        <c:lblAlgn val="ctr"/>
        <c:noMultiLvlLbl val="1"/>
        <c:tickLblSkip val="4"/>
      </c:catAx>
      <c:valAx>
        <c:axId val="2094734552"/>
        <c:scaling>
          <c:orientation val="minMax"/>
          <c:max val="1"/>
          <c:min val="0"/>
        </c:scaling>
        <c:delete val="0"/>
        <c:axPos val="l"/>
        <c:majorGridlines>
          <c:spPr>
            <a:ln w="9525" cap="flat">
              <a:solidFill>
                <a:srgbClr val="E0E6E2"/>
              </a:solidFill>
              <a:prstDash val="solid"/>
              <a:round/>
            </a:ln>
          </c:spPr>
        </c:majorGridlines>
        <c:title>
          <c:tx>
            <c:rich>
              <a:bodyPr/>
              <a:lstStyle/>
              <a:p>
                <a:pPr>
                  <a:defRPr sz="1200" b="0" i="0" u="none" strike="noStrike">
                    <a:solidFill>
                      <a:srgbClr val="6B7A70"/>
                    </a:solidFill>
                    <a:latin typeface="Arial"/>
                  </a:defRPr>
                </a:pPr>
                <a:r>
                  <a:rPr sz="1200" b="0" i="0" u="none" strike="noStrike">
                    <a:solidFill>
                      <a:srgbClr val="6B7A70"/>
                    </a:solidFill>
                    <a:latin typeface="Arial"/>
                  </a:rPr>
                  <a:t>Membership μ</a:t>
                </a:r>
              </a:p>
            </c:rich>
          </c:tx>
          <c:layout/>
          <c:overlay val="0"/>
        </c:title>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A70"/>
                </a:solidFill>
                <a:latin typeface="+mn-lt"/>
              </a:defRPr>
            </a:pPr>
            <a:endParaRPr lang="en-US"/>
          </a:p>
        </c:txPr>
        <c:crossAx val="2094734554"/>
        <c:crosses val="autoZero"/>
        <c:crossBetween val="between"/>
        <c:majorUnit val="0.25"/>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0F2E1D"/>
                </a:solidFill>
                <a:latin typeface="+mn-lt"/>
              </a:defRPr>
            </a:pPr>
            <a:r>
              <a:rPr sz="1500" b="0" i="0" u="none" strike="noStrike">
                <a:solidFill>
                  <a:srgbClr val="0F2E1D"/>
                </a:solidFill>
                <a:latin typeface="+mn-lt"/>
              </a:rPr>
              <a:t>Citrus at Béja · factor memberships</a:t>
            </a:r>
          </a:p>
        </c:rich>
      </c:tx>
      <c:layout/>
      <c:overlay val="0"/>
    </c:title>
    <c:autoTitleDeleted val="0"/>
    <c:plotArea>
      <c:layout/>
      <c:barChart>
        <c:barDir val="bar"/>
        <c:grouping val="clustered"/>
        <c:varyColors val="0"/>
        <c:ser>
          <c:idx val="0"/>
          <c:order val="0"/>
          <c:tx>
            <c:strRef>
              <c:f>Sheet1!$B$1</c:f>
              <c:strCache>
                <c:ptCount val="1"/>
                <c:pt idx="0">
                  <c:v>Factor score</c:v>
                </c:pt>
              </c:strCache>
            </c:strRef>
          </c:tx>
          <c:spPr>
            <a:solidFill>
              <a:srgbClr val="2E7D32"/>
            </a:solidFill>
            <a:effectLst/>
          </c:spPr>
          <c:invertIfNegative val="0"/>
          <c:dLbls>
            <c:numFmt formatCode="0.00" sourceLinked="0"/>
            <c:txPr>
              <a:bodyPr/>
              <a:lstStyle/>
              <a:p>
                <a:pPr>
                  <a:defRPr b="0" i="0" strike="noStrike" sz="1200" u="none">
                    <a:solidFill>
                      <a:srgbClr val="1B2A1F"/>
                    </a:solidFill>
                    <a:latin typeface="+mn-lt"/>
                  </a:defRPr>
                </a:pPr>
              </a:p>
            </c:txPr>
            <c:showLegendKey val="0"/>
            <c:showVal val="1"/>
            <c:showCatName val="0"/>
            <c:showSerName val="0"/>
            <c:showPercent val="0"/>
            <c:showBubbleSize val="0"/>
            <c:showLeaderLines val="0"/>
          </c:dLbls>
          <c:cat>
            <c:multiLvlStrRef>
              <c:f>Sheet1!$A$2:$A$8</c:f>
              <c:multiLvlStrCache>
                <c:ptCount val="7"/>
                <c:lvl>
                  <c:pt idx="0">
                    <c:v>Rainfall</c:v>
                  </c:pt>
                  <c:pt idx="1">
                    <c:v>Mean temp</c:v>
                  </c:pt>
                  <c:pt idx="2">
                    <c:v>Coldest month</c:v>
                  </c:pt>
                  <c:pt idx="3">
                    <c:v>Hottest max</c:v>
                  </c:pt>
                  <c:pt idx="4">
                    <c:v>Soil pH</c:v>
                  </c:pt>
                  <c:pt idx="5">
                    <c:v>Clay</c:v>
                  </c:pt>
                  <c:pt idx="6">
                    <c:v>Elevation</c:v>
                  </c:pt>
                </c:lvl>
              </c:multiLvlStrCache>
            </c:multiLvlStrRef>
          </c:cat>
          <c:val>
            <c:numRef>
              <c:f>Sheet1!$B$2:$B$8</c:f>
              <c:numCache>
                <c:formatCode>General</c:formatCode>
                <c:ptCount val="7"/>
                <c:pt idx="0">
                  <c:v>0.23</c:v>
                </c:pt>
                <c:pt idx="1">
                  <c:v>1</c:v>
                </c:pt>
                <c:pt idx="2">
                  <c:v>1</c:v>
                </c:pt>
                <c:pt idx="3">
                  <c:v>0.92</c:v>
                </c:pt>
                <c:pt idx="4">
                  <c:v>1</c:v>
                </c:pt>
                <c:pt idx="5">
                  <c:v>0.67</c:v>
                </c:pt>
                <c:pt idx="6">
                  <c:v>1</c:v>
                </c:pt>
              </c:numCache>
            </c:numRef>
          </c:val>
        </c:ser>
        <c:dLbls>
          <c:numFmt formatCode="0.00" sourceLinked="0"/>
          <c:txPr>
            <a:bodyPr/>
            <a:lstStyle/>
            <a:p>
              <a:pPr>
                <a:defRPr b="0" i="0" strike="noStrike" sz="1200" u="none">
                  <a:solidFill>
                    <a:srgbClr val="1B2A1F"/>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B2A1F"/>
                </a:solidFill>
                <a:latin typeface="+mn-lt"/>
              </a:defRPr>
            </a:pPr>
            <a:endParaRPr lang="en-US"/>
          </a:p>
        </c:txPr>
        <c:crossAx val="2094734552"/>
        <c:crosses val="autoZero"/>
        <c:auto val="1"/>
        <c:lblAlgn val="ctr"/>
        <c:noMultiLvlLbl val="1"/>
      </c:catAx>
      <c:valAx>
        <c:axId val="2094734552"/>
        <c:scaling>
          <c:orientation val="minMax"/>
          <c:max val="1.1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0F2E1D"/>
                </a:solidFill>
                <a:latin typeface="+mn-lt"/>
              </a:defRPr>
            </a:pPr>
            <a:r>
              <a:rPr sz="1500" b="0" i="0" u="none" strike="noStrike">
                <a:solidFill>
                  <a:srgbClr val="0F2E1D"/>
                </a:solidFill>
                <a:latin typeface="+mn-lt"/>
              </a:rPr>
              <a:t>Crops classed S1 or S2 (out of 13)</a:t>
            </a:r>
          </a:p>
        </c:rich>
      </c:tx>
      <c:layout/>
      <c:overlay val="0"/>
    </c:title>
    <c:autoTitleDeleted val="0"/>
    <c:plotArea>
      <c:layout/>
      <c:barChart>
        <c:barDir val="col"/>
        <c:grouping val="clustered"/>
        <c:varyColors val="0"/>
        <c:ser>
          <c:idx val="0"/>
          <c:order val="0"/>
          <c:tx>
            <c:strRef>
              <c:f>Sheet1!$B$1</c:f>
              <c:strCache>
                <c:ptCount val="1"/>
                <c:pt idx="0">
                  <c:v>Rainfed</c:v>
                </c:pt>
              </c:strCache>
            </c:strRef>
          </c:tx>
          <c:spPr>
            <a:solidFill>
              <a:srgbClr val="F9A825"/>
            </a:solidFill>
            <a:effectLst/>
          </c:spPr>
          <c:invertIfNegative val="0"/>
          <c:dLbls>
            <c:numFmt formatCode="#,##0" sourceLinked="0"/>
            <c:txPr>
              <a:bodyPr/>
              <a:lstStyle/>
              <a:p>
                <a:pPr>
                  <a:defRPr b="0" i="0" strike="noStrike" sz="1100" u="none">
                    <a:solidFill>
                      <a:srgbClr val="1B2A1F"/>
                    </a:solidFill>
                    <a:latin typeface="+mn-lt"/>
                  </a:defRPr>
                </a:pPr>
              </a:p>
            </c:txPr>
            <c:showLegendKey val="0"/>
            <c:showVal val="1"/>
            <c:showCatName val="0"/>
            <c:showSerName val="0"/>
            <c:showPercent val="0"/>
            <c:showBubbleSize val="0"/>
            <c:showLeaderLines val="0"/>
          </c:dLbls>
          <c:cat>
            <c:multiLvlStrRef>
              <c:f>Sheet1!$A$2:$A$10</c:f>
              <c:multiLvlStrCache>
                <c:ptCount val="9"/>
                <c:lvl>
                  <c:pt idx="0">
                    <c:v>Meknès</c:v>
                  </c:pt>
                  <c:pt idx="1">
                    <c:v>Béja</c:v>
                  </c:pt>
                  <c:pt idx="2">
                    <c:v>Tunis</c:v>
                  </c:pt>
                  <c:pt idx="3">
                    <c:v>Sétif</c:v>
                  </c:pt>
                  <c:pt idx="4">
                    <c:v>Nabeul</c:v>
                  </c:pt>
                  <c:pt idx="5">
                    <c:v>Kasserine</c:v>
                  </c:pt>
                  <c:pt idx="6">
                    <c:v>Kairouan</c:v>
                  </c:pt>
                  <c:pt idx="7">
                    <c:v>Sfax</c:v>
                  </c:pt>
                  <c:pt idx="8">
                    <c:v>Tozeur</c:v>
                  </c:pt>
                </c:lvl>
              </c:multiLvlStrCache>
            </c:multiLvlStrRef>
          </c:cat>
          <c:val>
            <c:numRef>
              <c:f>Sheet1!$B$2:$B$10</c:f>
              <c:numCache>
                <c:formatCode>General</c:formatCode>
                <c:ptCount val="9"/>
                <c:pt idx="0">
                  <c:v>12</c:v>
                </c:pt>
                <c:pt idx="1">
                  <c:v>12</c:v>
                </c:pt>
                <c:pt idx="2">
                  <c:v>12</c:v>
                </c:pt>
                <c:pt idx="3">
                  <c:v>9</c:v>
                </c:pt>
                <c:pt idx="4">
                  <c:v>12</c:v>
                </c:pt>
                <c:pt idx="5">
                  <c:v>8</c:v>
                </c:pt>
                <c:pt idx="6">
                  <c:v>7</c:v>
                </c:pt>
                <c:pt idx="7">
                  <c:v>4</c:v>
                </c:pt>
                <c:pt idx="8">
                  <c:v>1</c:v>
                </c:pt>
              </c:numCache>
            </c:numRef>
          </c:val>
        </c:ser>
        <c:ser>
          <c:idx val="1"/>
          <c:order val="1"/>
          <c:tx>
            <c:strRef>
              <c:f>Sheet1!$C$1</c:f>
              <c:strCache>
                <c:ptCount val="1"/>
                <c:pt idx="0">
                  <c:v>Irrigated</c:v>
                </c:pt>
              </c:strCache>
            </c:strRef>
          </c:tx>
          <c:spPr>
            <a:solidFill>
              <a:srgbClr val="2E7D32"/>
            </a:solidFill>
            <a:effectLst/>
          </c:spPr>
          <c:invertIfNegative val="0"/>
          <c:dLbls>
            <c:numFmt formatCode="#,##0" sourceLinked="0"/>
            <c:txPr>
              <a:bodyPr/>
              <a:lstStyle/>
              <a:p>
                <a:pPr>
                  <a:defRPr b="0" i="0" strike="noStrike" sz="1100" u="none">
                    <a:solidFill>
                      <a:srgbClr val="1B2A1F"/>
                    </a:solidFill>
                    <a:latin typeface="+mn-lt"/>
                  </a:defRPr>
                </a:pPr>
              </a:p>
            </c:txPr>
            <c:showLegendKey val="0"/>
            <c:showVal val="1"/>
            <c:showCatName val="0"/>
            <c:showSerName val="0"/>
            <c:showPercent val="0"/>
            <c:showBubbleSize val="0"/>
            <c:showLeaderLines val="0"/>
          </c:dLbls>
          <c:cat>
            <c:multiLvlStrRef>
              <c:f>Sheet1!$A$2:$A$10</c:f>
              <c:multiLvlStrCache>
                <c:ptCount val="9"/>
                <c:lvl>
                  <c:pt idx="0">
                    <c:v>Meknès</c:v>
                  </c:pt>
                  <c:pt idx="1">
                    <c:v>Béja</c:v>
                  </c:pt>
                  <c:pt idx="2">
                    <c:v>Tunis</c:v>
                  </c:pt>
                  <c:pt idx="3">
                    <c:v>Sétif</c:v>
                  </c:pt>
                  <c:pt idx="4">
                    <c:v>Nabeul</c:v>
                  </c:pt>
                  <c:pt idx="5">
                    <c:v>Kasserine</c:v>
                  </c:pt>
                  <c:pt idx="6">
                    <c:v>Kairouan</c:v>
                  </c:pt>
                  <c:pt idx="7">
                    <c:v>Sfax</c:v>
                  </c:pt>
                  <c:pt idx="8">
                    <c:v>Tozeur</c:v>
                  </c:pt>
                </c:lvl>
              </c:multiLvlStrCache>
            </c:multiLvlStrRef>
          </c:cat>
          <c:val>
            <c:numRef>
              <c:f>Sheet1!$C$2:$C$10</c:f>
              <c:numCache>
                <c:formatCode>General</c:formatCode>
                <c:ptCount val="9"/>
                <c:pt idx="0">
                  <c:v>12</c:v>
                </c:pt>
                <c:pt idx="1">
                  <c:v>12</c:v>
                </c:pt>
                <c:pt idx="2">
                  <c:v>12</c:v>
                </c:pt>
                <c:pt idx="3">
                  <c:v>11</c:v>
                </c:pt>
                <c:pt idx="4">
                  <c:v>12</c:v>
                </c:pt>
                <c:pt idx="5">
                  <c:v>12</c:v>
                </c:pt>
                <c:pt idx="6">
                  <c:v>11</c:v>
                </c:pt>
                <c:pt idx="7">
                  <c:v>12</c:v>
                </c:pt>
                <c:pt idx="8">
                  <c:v>7</c:v>
                </c:pt>
              </c:numCache>
            </c:numRef>
          </c:val>
        </c:ser>
        <c:dLbls>
          <c:numFmt formatCode="#,##0" sourceLinked="0"/>
          <c:txPr>
            <a:bodyPr/>
            <a:lstStyle/>
            <a:p>
              <a:pPr>
                <a:defRPr b="0" i="0" strike="noStrike" sz="1100" u="none">
                  <a:solidFill>
                    <a:srgbClr val="1B2A1F"/>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A1F"/>
                </a:solidFill>
                <a:latin typeface="+mn-lt"/>
              </a:defRPr>
            </a:pPr>
            <a:endParaRPr lang="en-US"/>
          </a:p>
        </c:txPr>
        <c:crossAx val="2094734552"/>
        <c:crosses val="autoZero"/>
        <c:auto val="1"/>
        <c:lblAlgn val="ctr"/>
        <c:noMultiLvlLbl val="1"/>
      </c:catAx>
      <c:valAx>
        <c:axId val="2094734552"/>
        <c:scaling>
          <c:orientation val="minMax"/>
          <c:max val="14"/>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1B2A1F"/>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AgroSuit is a geospatial decision-support system that tells you which crop fits a given location in North Africa, and explains why. It combines free global climate, soil and terrain data with the FAO land-evaluation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Within about 300 km, annual rainfall falls from over 400 mm in the north-west to under 100 mm in the oases. Values are ERA5 averages for 2016 to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goal is not only a ranking, but an explanation and an action plan. No black box: every number traces back to a data source and a requirement range.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comes from public APIs, so the system works anywhere without data preparation. Responses are cached on disk, and every layer has a fallback.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the CLI and the notebook all call the same two pipeline functions: analyze_site and scan_region.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 13 crops has a trapezoid (a, b, c, d) for each of the 7 factors, adapted from FAO ECOCROP. Fuzzy scores avoid the classic problem where 399 mm is rejected and 400 mm accepted.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geometric mean lets one bad factor pull the whole score down, unlike an arithmetic mean. Weights are crop-specific. C-bar is a centrality bonus, up to 15 percent, that prefers sites in the middle of the optimum. Any factor at zero forces class 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Factors below 0.98 are listed by severity with a quantified gap and an action. Membership curves show where the site falls for each requirement.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Built with Streamlit, Plotly and Folium. The sidebar selects location, scenario, climate window and data sources. Each result shows which data source fed each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Climate for up to ten grid points is fetched per request. Sea cells are removed using elevation. Pistachio wins the dry south-west around Kasserine. Scans use a default soil because of the SoilGrids rate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ERA5 climate 2016 to 2025 for nine reference sites in Tunisia, Algeria and Morocco. These are plausibility checks, not a formal validation: crop ranges come from the literature.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Crops that stay unsuitable under irrigation at Tozeur, such as tomato, potato and faba bean, are limited by heat or soil, not water. The model separates water constraints from the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CLI and notebook share one pipeline. Tests cover the maths, the data processing, the fallbacks and every export format, and run in CI on Python 3.10 and 3.12.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agreement with the real crop map is encouraging but is not a formal validation. The roadmap focuses on calibration and on climate-change scenarios.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The full report is in docs/AgroSuit_Report.pdf and the code, tests and README are in the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F2E1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6035040" cy="1188720"/>
          </a:xfrm>
          <a:prstGeom prst="rect">
            <a:avLst/>
          </a:prstGeom>
          <a:noFill/>
          <a:ln/>
        </p:spPr>
        <p:txBody>
          <a:bodyPr wrap="square" rtlCol="0"/>
          <a:lstStyle>
            <a:lvl1pPr algn="l" indent="0" marL="0">
              <a:buNone/>
              <a:defRPr lang="en-US" sz="6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6000" dirty="0"/>
          </a:p>
        </p:txBody>
      </p:sp>
      <p:sp>
        <p:nvSpPr>
          <p:cNvPr id="3" name="Text 0"/>
          <p:cNvSpPr/>
          <p:nvPr>
            <p:ph idx="101" type="body" hasCustomPrompt="1"/>
          </p:nvPr>
        </p:nvSpPr>
        <p:spPr>
          <a:xfrm>
            <a:off x="548640" y="3154680"/>
            <a:ext cx="5852160" cy="1188720"/>
          </a:xfrm>
          <a:prstGeom prst="rect">
            <a:avLst/>
          </a:prstGeom>
          <a:noFill/>
          <a:ln/>
        </p:spPr>
        <p:txBody>
          <a:bodyPr wrap="square" rtlCol="0"/>
          <a:lstStyle>
            <a:lvl1pPr algn="l" indent="0" marL="0">
              <a:buNone/>
              <a:defRPr lang="en-US" sz="2200" dirty="0">
                <a:solidFill>
                  <a:schemeClr val="accent3"/>
                </a:solidFill>
                <a:latin typeface="Calibri" pitchFamily="34" charset="0"/>
                <a:ea typeface="Calibri" pitchFamily="34" charset="-122"/>
                <a:cs typeface="Calibri" pitchFamily="34" charset="-120"/>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lstStyle>
            <a:lvl1pPr indent="0" marL="0">
              <a:buNone/>
              <a:defRPr lang="en-US" sz="3200" b="1" dirty="0">
                <a:solidFill>
                  <a:schemeClr val="tx2"/>
                </a:solidFill>
                <a:latin typeface="Cambria" pitchFamily="34" charset="0"/>
                <a:ea typeface="Cambria" pitchFamily="34" charset="-122"/>
                <a:cs typeface="Cambria" pitchFamily="34" charset="-120"/>
              </a:defRPr>
            </a:lvl1pPr>
          </a:lstStyle>
          <a:p>
            <a:pPr indent="0" marL="0">
              <a:buNone/>
            </a:pPr>
            <a:endParaRPr lang="en-US" sz="3200" dirty="0"/>
          </a:p>
        </p:txBody>
      </p:sp>
      <p:sp>
        <p:nvSpPr>
          <p:cNvPr id="3" name="Text 0"/>
          <p:cNvSpPr/>
          <p:nvPr/>
        </p:nvSpPr>
        <p:spPr>
          <a:xfrm>
            <a:off x="548640" y="6355080"/>
            <a:ext cx="7315200" cy="320040"/>
          </a:xfrm>
          <a:prstGeom prst="rect">
            <a:avLst/>
          </a:prstGeom>
          <a:noFill/>
          <a:ln/>
        </p:spPr>
        <p:txBody>
          <a:bodyPr wrap="square" lIns="0" tIns="0" rIns="0" bIns="0" rtlCol="0" anchor="ctr"/>
          <a:lstStyle/>
          <a:p>
            <a:pPr indent="0" marL="0">
              <a:buNone/>
            </a:pPr>
            <a:r>
              <a:rPr lang="en-US" sz="1000" dirty="0">
                <a:solidFill>
                  <a:schemeClr val="accent6"/>
                </a:solidFill>
              </a:rPr>
              <a:t>AgroSuit · Crop Suitability Intelligence for North Africa</a:t>
            </a:r>
            <a:endParaRPr lang="en-US" sz="1000" dirty="0"/>
          </a:p>
        </p:txBody>
      </p:sp>
      <p:sp>
        <p:nvSpPr>
          <p:cNvPr id="25" name="Slide Number Placeholder 0"/>
          <p:cNvSpPr>
            <a:spLocks noGrp="1"/>
          </p:cNvSpPr>
          <p:nvPr>
            <p:ph type="sldNum" sz="quarter" idx="4294967295"/>
          </p:nvPr>
        </p:nvSpPr>
        <p:spPr>
          <a:xfrm>
            <a:off x="1109441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3.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6035040" cy="1188720"/>
          </a:xfrm>
          <a:prstGeom prst="rect">
            <a:avLst/>
          </a:prstGeom>
          <a:noFill/>
          <a:ln/>
        </p:spPr>
        <p:txBody>
          <a:bodyPr wrap="square" lIns="0" tIns="0" rIns="0" bIns="0" rtlCol="0" anchor="b"/>
          <a:lstStyle/>
          <a:p>
            <a:pPr algn="l" indent="0" marL="0">
              <a:buNone/>
            </a:pPr>
            <a:r>
              <a:rPr lang="en-US" sz="6000" b="1" dirty="0">
                <a:solidFill>
                  <a:schemeClr val="bg1"/>
                </a:solidFill>
                <a:latin typeface="Cambria" pitchFamily="34" charset="0"/>
                <a:ea typeface="Cambria" pitchFamily="34" charset="-122"/>
                <a:cs typeface="Cambria" pitchFamily="34" charset="-120"/>
              </a:rPr>
              <a:t>AgroSuit</a:t>
            </a:r>
            <a:endParaRPr lang="en-US" sz="6000" dirty="0"/>
          </a:p>
        </p:txBody>
      </p:sp>
      <p:sp>
        <p:nvSpPr>
          <p:cNvPr id="3" name="Text 0"/>
          <p:cNvSpPr/>
          <p:nvPr>
            <p:ph idx="101" type="body" hasCustomPrompt="1"/>
          </p:nvPr>
        </p:nvSpPr>
        <p:spPr>
          <a:xfrm>
            <a:off x="548640" y="3154680"/>
            <a:ext cx="5852160" cy="1188720"/>
          </a:xfrm>
          <a:prstGeom prst="rect">
            <a:avLst/>
          </a:prstGeom>
          <a:noFill/>
          <a:ln/>
        </p:spPr>
        <p:txBody>
          <a:bodyPr wrap="square" lIns="0" tIns="0" rIns="0" bIns="0" rtlCol="0" anchor="t"/>
          <a:lstStyle/>
          <a:p>
            <a:pPr algn="l" indent="0" marL="0">
              <a:buNone/>
            </a:pPr>
            <a:r>
              <a:rPr lang="en-US" sz="2200" dirty="0">
                <a:solidFill>
                  <a:schemeClr val="accent3"/>
                </a:solidFill>
                <a:latin typeface="Calibri" pitchFamily="34" charset="0"/>
                <a:ea typeface="Calibri" pitchFamily="34" charset="-122"/>
                <a:cs typeface="Calibri" pitchFamily="34" charset="-120"/>
              </a:rPr>
              <a:t>Crop suitability intelligence for North Africa</a:t>
            </a:r>
            <a:endParaRPr lang="en-US" sz="2200" dirty="0"/>
          </a:p>
        </p:txBody>
      </p:sp>
      <p:sp>
        <p:nvSpPr>
          <p:cNvPr id="4" name="tagline"/>
          <p:cNvSpPr txBox="1"/>
          <p:nvPr/>
        </p:nvSpPr>
        <p:spPr>
          <a:xfrm>
            <a:off x="548640" y="4160520"/>
            <a:ext cx="5669280" cy="822960"/>
          </a:xfrm>
          <a:prstGeom prst="rect">
            <a:avLst/>
          </a:prstGeom>
          <a:noFill/>
          <a:ln/>
        </p:spPr>
        <p:txBody>
          <a:bodyPr wrap="square" lIns="0" tIns="0" rIns="0" bIns="0" rtlCol="0" anchor="ctr"/>
          <a:lstStyle/>
          <a:p>
            <a:pPr indent="0" marL="0">
              <a:buNone/>
            </a:pPr>
            <a:r>
              <a:rPr lang="en-US" sz="1500" dirty="0">
                <a:solidFill>
                  <a:schemeClr val="bg2"/>
                </a:solidFill>
              </a:rPr>
              <a:t>FAO fuzzy land evaluation on ERA5 climate, SoilGrids soil and Copernicus terrain for 13 Mediterranean and Saharan crops</a:t>
            </a:r>
            <a:endParaRPr lang="en-US" sz="1500" dirty="0"/>
          </a:p>
        </p:txBody>
      </p:sp>
      <p:sp>
        <p:nvSpPr>
          <p:cNvPr id="5" name="author"/>
          <p:cNvSpPr txBox="1"/>
          <p:nvPr/>
        </p:nvSpPr>
        <p:spPr>
          <a:xfrm>
            <a:off x="548640" y="5623560"/>
            <a:ext cx="5486400" cy="731520"/>
          </a:xfrm>
          <a:prstGeom prst="rect">
            <a:avLst/>
          </a:prstGeom>
          <a:noFill/>
          <a:ln/>
        </p:spPr>
        <p:txBody>
          <a:bodyPr wrap="square" lIns="0" tIns="0" rIns="0" bIns="0" rtlCol="0" anchor="ctr"/>
          <a:lstStyle/>
          <a:p>
            <a:pPr indent="0" marL="0">
              <a:buNone/>
            </a:pPr>
            <a:r>
              <a:rPr lang="en-US" sz="1400" b="1" dirty="0">
                <a:solidFill>
                  <a:schemeClr val="bg1"/>
                </a:solidFill>
              </a:rPr>
              <a:t>Yahya Houimdi</a:t>
            </a:r>
            <a:endParaRPr lang="en-US" sz="1400" dirty="0"/>
          </a:p>
          <a:p>
            <a:pPr indent="0" marL="0">
              <a:buNone/>
            </a:pPr>
            <a:r>
              <a:rPr lang="en-US" sz="1400" dirty="0">
                <a:solidFill>
                  <a:schemeClr val="bg1"/>
                </a:solidFill>
              </a:rPr>
              <a:t>ENIT · Geospatial AI project · 2026</a:t>
            </a:r>
            <a:endParaRPr lang="en-US" sz="1400" dirty="0"/>
          </a:p>
        </p:txBody>
      </p:sp>
      <p:pic>
        <p:nvPicPr>
          <p:cNvPr id="6" name="Dashboard screenshot" descr="Dashboard screenshot">    </p:cNvPr>
          <p:cNvPicPr>
            <a:picLocks noChangeAspect="1"/>
          </p:cNvPicPr>
          <p:nvPr/>
        </p:nvPicPr>
        <p:blipFill>
          <a:blip r:embed="rId1"/>
          <a:stretch>
            <a:fillRect/>
          </a:stretch>
        </p:blipFill>
        <p:spPr>
          <a:xfrm>
            <a:off x="6629400" y="1600200"/>
            <a:ext cx="5120640" cy="3200400"/>
          </a:xfrm>
          <a:prstGeom prst="rect">
            <a:avLst/>
          </a:prstGeom>
          <a:effectLst>
            <a:outerShdw sx="100000" sy="100000" kx="0" ky="0" algn="bl" rotWithShape="0" blurRad="101600" dist="38100" dir="5400000">
              <a:srgbClr val="000000">
                <a:alpha val="25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North African farming sits on a steep water gradient</a:t>
            </a:r>
            <a:endParaRPr lang="en-US" sz="3200" dirty="0"/>
          </a:p>
        </p:txBody>
      </p:sp>
      <p:sp>
        <p:nvSpPr>
          <p:cNvPr id="3" name="Béja card"/>
          <p:cNvSpPr/>
          <p:nvPr/>
        </p:nvSpPr>
        <p:spPr>
          <a:xfrm>
            <a:off x="548640" y="1417320"/>
            <a:ext cx="3474720" cy="4206240"/>
          </a:xfrm>
          <a:prstGeom prst="roundRect">
            <a:avLst>
              <a:gd name="adj" fmla="val 3158"/>
            </a:avLst>
          </a:prstGeom>
          <a:solidFill>
            <a:schemeClr val="bg2"/>
          </a:solidFill>
          <a:ln/>
        </p:spPr>
      </p:sp>
      <p:sp>
        <p:nvSpPr>
          <p:cNvPr id="4" name="Béja circle"/>
          <p:cNvSpPr/>
          <p:nvPr/>
        </p:nvSpPr>
        <p:spPr>
          <a:xfrm>
            <a:off x="868680" y="1691640"/>
            <a:ext cx="731520" cy="731520"/>
          </a:xfrm>
          <a:prstGeom prst="ellipse">
            <a:avLst/>
          </a:prstGeom>
          <a:solidFill>
            <a:srgbClr val="2E7D32"/>
          </a:solidFill>
          <a:ln/>
        </p:spPr>
      </p:sp>
      <p:pic>
        <p:nvPicPr>
          <p:cNvPr id="5" name="Béja icon" descr="Béja">    </p:cNvPr>
          <p:cNvPicPr>
            <a:picLocks noChangeAspect="1"/>
          </p:cNvPicPr>
          <p:nvPr/>
        </p:nvPicPr>
        <p:blipFill>
          <a:blip r:embed="rId1"/>
          <a:stretch>
            <a:fillRect/>
          </a:stretch>
        </p:blipFill>
        <p:spPr>
          <a:xfrm>
            <a:off x="1044245" y="1867205"/>
            <a:ext cx="380390" cy="380390"/>
          </a:xfrm>
          <a:prstGeom prst="rect">
            <a:avLst/>
          </a:prstGeom>
        </p:spPr>
      </p:pic>
      <p:sp>
        <p:nvSpPr>
          <p:cNvPr id="6" name="Béja name"/>
          <p:cNvSpPr txBox="1"/>
          <p:nvPr/>
        </p:nvSpPr>
        <p:spPr>
          <a:xfrm>
            <a:off x="1783080" y="1783080"/>
            <a:ext cx="2103120" cy="548640"/>
          </a:xfrm>
          <a:prstGeom prst="rect">
            <a:avLst/>
          </a:prstGeom>
          <a:noFill/>
          <a:ln/>
        </p:spPr>
        <p:txBody>
          <a:bodyPr wrap="square" lIns="0" tIns="0" rIns="0" bIns="0" rtlCol="0" anchor="ctr"/>
          <a:lstStyle/>
          <a:p>
            <a:pPr indent="0" marL="0">
              <a:buNone/>
            </a:pPr>
            <a:r>
              <a:rPr lang="en-US" sz="2200" b="1" dirty="0">
                <a:solidFill>
                  <a:schemeClr val="tx2"/>
                </a:solidFill>
              </a:rPr>
              <a:t>Béja</a:t>
            </a:r>
            <a:endParaRPr lang="en-US" sz="2200" dirty="0"/>
          </a:p>
        </p:txBody>
      </p:sp>
      <p:sp>
        <p:nvSpPr>
          <p:cNvPr id="7" name="Béja rain"/>
          <p:cNvSpPr txBox="1"/>
          <p:nvPr/>
        </p:nvSpPr>
        <p:spPr>
          <a:xfrm>
            <a:off x="868680" y="2606040"/>
            <a:ext cx="2834640" cy="1005840"/>
          </a:xfrm>
          <a:prstGeom prst="rect">
            <a:avLst/>
          </a:prstGeom>
          <a:noFill/>
          <a:ln/>
        </p:spPr>
        <p:txBody>
          <a:bodyPr wrap="square" lIns="0" tIns="0" rIns="0" bIns="0" rtlCol="0" anchor="ctr"/>
          <a:lstStyle/>
          <a:p>
            <a:pPr indent="0" marL="0">
              <a:buNone/>
            </a:pPr>
            <a:r>
              <a:rPr lang="en-US" sz="6000" b="1" dirty="0">
                <a:solidFill>
                  <a:schemeClr val="accent1"/>
                </a:solidFill>
              </a:rPr>
              <a:t>438</a:t>
            </a:r>
            <a:pPr indent="0" marL="0">
              <a:buNone/>
            </a:pPr>
            <a:r>
              <a:rPr lang="en-US" sz="2400" dirty="0">
                <a:solidFill>
                  <a:schemeClr val="accent1"/>
                </a:solidFill>
              </a:rPr>
              <a:t> mm</a:t>
            </a:r>
            <a:endParaRPr lang="en-US" sz="6000" dirty="0"/>
          </a:p>
        </p:txBody>
      </p:sp>
      <p:sp>
        <p:nvSpPr>
          <p:cNvPr id="8" name="Béja aridity"/>
          <p:cNvSpPr txBox="1"/>
          <p:nvPr/>
        </p:nvSpPr>
        <p:spPr>
          <a:xfrm>
            <a:off x="868680" y="3611880"/>
            <a:ext cx="2834640" cy="640080"/>
          </a:xfrm>
          <a:prstGeom prst="rect">
            <a:avLst/>
          </a:prstGeom>
          <a:noFill/>
          <a:ln/>
        </p:spPr>
        <p:txBody>
          <a:bodyPr wrap="square" lIns="0" tIns="0" rIns="0" bIns="0" rtlCol="0" anchor="ctr"/>
          <a:lstStyle/>
          <a:p>
            <a:pPr indent="0" marL="0">
              <a:buNone/>
            </a:pPr>
            <a:r>
              <a:rPr lang="en-US" sz="1400" dirty="0">
                <a:solidFill>
                  <a:schemeClr val="tx1"/>
                </a:solidFill>
              </a:rPr>
              <a:t>rain per year · aridity index 0.31 (semi-arid)</a:t>
            </a:r>
            <a:endParaRPr lang="en-US" sz="1400" dirty="0"/>
          </a:p>
        </p:txBody>
      </p:sp>
      <p:sp>
        <p:nvSpPr>
          <p:cNvPr id="9" name="Béja best"/>
          <p:cNvSpPr txBox="1"/>
          <p:nvPr/>
        </p:nvSpPr>
        <p:spPr>
          <a:xfrm>
            <a:off x="868680" y="4526280"/>
            <a:ext cx="2834640" cy="822960"/>
          </a:xfrm>
          <a:prstGeom prst="rect">
            <a:avLst/>
          </a:prstGeom>
          <a:noFill/>
          <a:ln/>
        </p:spPr>
        <p:txBody>
          <a:bodyPr wrap="square" lIns="0" tIns="0" rIns="0" bIns="0" rtlCol="0" anchor="ctr"/>
          <a:lstStyle/>
          <a:p>
            <a:pPr indent="0" marL="0">
              <a:buNone/>
            </a:pPr>
            <a:r>
              <a:rPr lang="en-US" sz="1200" dirty="0">
                <a:solidFill>
                  <a:schemeClr val="accent6"/>
                </a:solidFill>
              </a:rPr>
              <a:t>Best rainfed crop</a:t>
            </a:r>
            <a:endParaRPr lang="en-US" sz="1200" dirty="0"/>
          </a:p>
          <a:p>
            <a:pPr indent="0" marL="0">
              <a:buNone/>
            </a:pPr>
            <a:r>
              <a:rPr lang="en-US" sz="1800" b="1" dirty="0">
                <a:solidFill>
                  <a:schemeClr val="tx2"/>
                </a:solidFill>
              </a:rPr>
              <a:t>Barley · 0.93 S1</a:t>
            </a:r>
            <a:endParaRPr lang="en-US" sz="1200" dirty="0"/>
          </a:p>
        </p:txBody>
      </p:sp>
      <p:sp>
        <p:nvSpPr>
          <p:cNvPr id="10" name="Sfax card"/>
          <p:cNvSpPr/>
          <p:nvPr/>
        </p:nvSpPr>
        <p:spPr>
          <a:xfrm>
            <a:off x="4297680" y="1417320"/>
            <a:ext cx="3474720" cy="4206240"/>
          </a:xfrm>
          <a:prstGeom prst="roundRect">
            <a:avLst>
              <a:gd name="adj" fmla="val 3158"/>
            </a:avLst>
          </a:prstGeom>
          <a:solidFill>
            <a:schemeClr val="bg2"/>
          </a:solidFill>
          <a:ln/>
        </p:spPr>
      </p:sp>
      <p:sp>
        <p:nvSpPr>
          <p:cNvPr id="11" name="Sfax circle"/>
          <p:cNvSpPr/>
          <p:nvPr/>
        </p:nvSpPr>
        <p:spPr>
          <a:xfrm>
            <a:off x="4617720" y="1691640"/>
            <a:ext cx="731520" cy="731520"/>
          </a:xfrm>
          <a:prstGeom prst="ellipse">
            <a:avLst/>
          </a:prstGeom>
          <a:solidFill>
            <a:srgbClr val="2E7D32"/>
          </a:solidFill>
          <a:ln/>
        </p:spPr>
      </p:sp>
      <p:pic>
        <p:nvPicPr>
          <p:cNvPr id="12" name="Sfax icon" descr="Sfax">    </p:cNvPr>
          <p:cNvPicPr>
            <a:picLocks noChangeAspect="1"/>
          </p:cNvPicPr>
          <p:nvPr/>
        </p:nvPicPr>
        <p:blipFill>
          <a:blip r:embed="rId2"/>
          <a:stretch>
            <a:fillRect/>
          </a:stretch>
        </p:blipFill>
        <p:spPr>
          <a:xfrm>
            <a:off x="4793285" y="1867205"/>
            <a:ext cx="380390" cy="380390"/>
          </a:xfrm>
          <a:prstGeom prst="rect">
            <a:avLst/>
          </a:prstGeom>
        </p:spPr>
      </p:pic>
      <p:sp>
        <p:nvSpPr>
          <p:cNvPr id="13" name="Sfax name"/>
          <p:cNvSpPr txBox="1"/>
          <p:nvPr/>
        </p:nvSpPr>
        <p:spPr>
          <a:xfrm>
            <a:off x="5532120" y="1783080"/>
            <a:ext cx="2103120" cy="548640"/>
          </a:xfrm>
          <a:prstGeom prst="rect">
            <a:avLst/>
          </a:prstGeom>
          <a:noFill/>
          <a:ln/>
        </p:spPr>
        <p:txBody>
          <a:bodyPr wrap="square" lIns="0" tIns="0" rIns="0" bIns="0" rtlCol="0" anchor="ctr"/>
          <a:lstStyle/>
          <a:p>
            <a:pPr indent="0" marL="0">
              <a:buNone/>
            </a:pPr>
            <a:r>
              <a:rPr lang="en-US" sz="2200" b="1" dirty="0">
                <a:solidFill>
                  <a:schemeClr val="tx2"/>
                </a:solidFill>
              </a:rPr>
              <a:t>Sfax</a:t>
            </a:r>
            <a:endParaRPr lang="en-US" sz="2200" dirty="0"/>
          </a:p>
        </p:txBody>
      </p:sp>
      <p:sp>
        <p:nvSpPr>
          <p:cNvPr id="14" name="Sfax rain"/>
          <p:cNvSpPr txBox="1"/>
          <p:nvPr/>
        </p:nvSpPr>
        <p:spPr>
          <a:xfrm>
            <a:off x="4617720" y="2606040"/>
            <a:ext cx="2834640" cy="1005840"/>
          </a:xfrm>
          <a:prstGeom prst="rect">
            <a:avLst/>
          </a:prstGeom>
          <a:noFill/>
          <a:ln/>
        </p:spPr>
        <p:txBody>
          <a:bodyPr wrap="square" lIns="0" tIns="0" rIns="0" bIns="0" rtlCol="0" anchor="ctr"/>
          <a:lstStyle/>
          <a:p>
            <a:pPr indent="0" marL="0">
              <a:buNone/>
            </a:pPr>
            <a:r>
              <a:rPr lang="en-US" sz="6000" b="1" dirty="0">
                <a:solidFill>
                  <a:schemeClr val="accent1"/>
                </a:solidFill>
              </a:rPr>
              <a:t>204</a:t>
            </a:r>
            <a:pPr indent="0" marL="0">
              <a:buNone/>
            </a:pPr>
            <a:r>
              <a:rPr lang="en-US" sz="2400" dirty="0">
                <a:solidFill>
                  <a:schemeClr val="accent1"/>
                </a:solidFill>
              </a:rPr>
              <a:t> mm</a:t>
            </a:r>
            <a:endParaRPr lang="en-US" sz="6000" dirty="0"/>
          </a:p>
        </p:txBody>
      </p:sp>
      <p:sp>
        <p:nvSpPr>
          <p:cNvPr id="15" name="Sfax aridity"/>
          <p:cNvSpPr txBox="1"/>
          <p:nvPr/>
        </p:nvSpPr>
        <p:spPr>
          <a:xfrm>
            <a:off x="4617720" y="3611880"/>
            <a:ext cx="2834640" cy="640080"/>
          </a:xfrm>
          <a:prstGeom prst="rect">
            <a:avLst/>
          </a:prstGeom>
          <a:noFill/>
          <a:ln/>
        </p:spPr>
        <p:txBody>
          <a:bodyPr wrap="square" lIns="0" tIns="0" rIns="0" bIns="0" rtlCol="0" anchor="ctr"/>
          <a:lstStyle/>
          <a:p>
            <a:pPr indent="0" marL="0">
              <a:buNone/>
            </a:pPr>
            <a:r>
              <a:rPr lang="en-US" sz="1400" dirty="0">
                <a:solidFill>
                  <a:schemeClr val="tx1"/>
                </a:solidFill>
              </a:rPr>
              <a:t>rain per year · aridity index 0.12 (arid)</a:t>
            </a:r>
            <a:endParaRPr lang="en-US" sz="1400" dirty="0"/>
          </a:p>
        </p:txBody>
      </p:sp>
      <p:sp>
        <p:nvSpPr>
          <p:cNvPr id="16" name="Sfax best"/>
          <p:cNvSpPr txBox="1"/>
          <p:nvPr/>
        </p:nvSpPr>
        <p:spPr>
          <a:xfrm>
            <a:off x="4617720" y="4526280"/>
            <a:ext cx="2834640" cy="822960"/>
          </a:xfrm>
          <a:prstGeom prst="rect">
            <a:avLst/>
          </a:prstGeom>
          <a:noFill/>
          <a:ln/>
        </p:spPr>
        <p:txBody>
          <a:bodyPr wrap="square" lIns="0" tIns="0" rIns="0" bIns="0" rtlCol="0" anchor="ctr"/>
          <a:lstStyle/>
          <a:p>
            <a:pPr indent="0" marL="0">
              <a:buNone/>
            </a:pPr>
            <a:r>
              <a:rPr lang="en-US" sz="1200" dirty="0">
                <a:solidFill>
                  <a:schemeClr val="accent6"/>
                </a:solidFill>
              </a:rPr>
              <a:t>Best rainfed crop</a:t>
            </a:r>
            <a:endParaRPr lang="en-US" sz="1200" dirty="0"/>
          </a:p>
          <a:p>
            <a:pPr indent="0" marL="0">
              <a:buNone/>
            </a:pPr>
            <a:r>
              <a:rPr lang="en-US" sz="1800" b="1" dirty="0">
                <a:solidFill>
                  <a:schemeClr val="tx2"/>
                </a:solidFill>
              </a:rPr>
              <a:t>Olive · 0.73 S2</a:t>
            </a:r>
            <a:endParaRPr lang="en-US" sz="1200" dirty="0"/>
          </a:p>
        </p:txBody>
      </p:sp>
      <p:sp>
        <p:nvSpPr>
          <p:cNvPr id="17" name="Tozeur card"/>
          <p:cNvSpPr/>
          <p:nvPr/>
        </p:nvSpPr>
        <p:spPr>
          <a:xfrm>
            <a:off x="8046720" y="1417320"/>
            <a:ext cx="3474720" cy="4206240"/>
          </a:xfrm>
          <a:prstGeom prst="roundRect">
            <a:avLst>
              <a:gd name="adj" fmla="val 3158"/>
            </a:avLst>
          </a:prstGeom>
          <a:solidFill>
            <a:schemeClr val="bg2"/>
          </a:solidFill>
          <a:ln/>
        </p:spPr>
      </p:sp>
      <p:sp>
        <p:nvSpPr>
          <p:cNvPr id="18" name="Tozeur circle"/>
          <p:cNvSpPr/>
          <p:nvPr/>
        </p:nvSpPr>
        <p:spPr>
          <a:xfrm>
            <a:off x="8366760" y="1691640"/>
            <a:ext cx="731520" cy="731520"/>
          </a:xfrm>
          <a:prstGeom prst="ellipse">
            <a:avLst/>
          </a:prstGeom>
          <a:solidFill>
            <a:srgbClr val="2E7D32"/>
          </a:solidFill>
          <a:ln/>
        </p:spPr>
      </p:sp>
      <p:pic>
        <p:nvPicPr>
          <p:cNvPr id="19" name="Tozeur icon" descr="Tozeur">    </p:cNvPr>
          <p:cNvPicPr>
            <a:picLocks noChangeAspect="1"/>
          </p:cNvPicPr>
          <p:nvPr/>
        </p:nvPicPr>
        <p:blipFill>
          <a:blip r:embed="rId3"/>
          <a:stretch>
            <a:fillRect/>
          </a:stretch>
        </p:blipFill>
        <p:spPr>
          <a:xfrm>
            <a:off x="8542325" y="1867205"/>
            <a:ext cx="380390" cy="380390"/>
          </a:xfrm>
          <a:prstGeom prst="rect">
            <a:avLst/>
          </a:prstGeom>
        </p:spPr>
      </p:pic>
      <p:sp>
        <p:nvSpPr>
          <p:cNvPr id="20" name="Tozeur name"/>
          <p:cNvSpPr txBox="1"/>
          <p:nvPr/>
        </p:nvSpPr>
        <p:spPr>
          <a:xfrm>
            <a:off x="9281160" y="1783080"/>
            <a:ext cx="2103120" cy="548640"/>
          </a:xfrm>
          <a:prstGeom prst="rect">
            <a:avLst/>
          </a:prstGeom>
          <a:noFill/>
          <a:ln/>
        </p:spPr>
        <p:txBody>
          <a:bodyPr wrap="square" lIns="0" tIns="0" rIns="0" bIns="0" rtlCol="0" anchor="ctr"/>
          <a:lstStyle/>
          <a:p>
            <a:pPr indent="0" marL="0">
              <a:buNone/>
            </a:pPr>
            <a:r>
              <a:rPr lang="en-US" sz="2200" b="1" dirty="0">
                <a:solidFill>
                  <a:schemeClr val="tx2"/>
                </a:solidFill>
              </a:rPr>
              <a:t>Tozeur</a:t>
            </a:r>
            <a:endParaRPr lang="en-US" sz="2200" dirty="0"/>
          </a:p>
        </p:txBody>
      </p:sp>
      <p:sp>
        <p:nvSpPr>
          <p:cNvPr id="21" name="Tozeur rain"/>
          <p:cNvSpPr txBox="1"/>
          <p:nvPr/>
        </p:nvSpPr>
        <p:spPr>
          <a:xfrm>
            <a:off x="8366760" y="2606040"/>
            <a:ext cx="2834640" cy="1005840"/>
          </a:xfrm>
          <a:prstGeom prst="rect">
            <a:avLst/>
          </a:prstGeom>
          <a:noFill/>
          <a:ln/>
        </p:spPr>
        <p:txBody>
          <a:bodyPr wrap="square" lIns="0" tIns="0" rIns="0" bIns="0" rtlCol="0" anchor="ctr"/>
          <a:lstStyle/>
          <a:p>
            <a:pPr indent="0" marL="0">
              <a:buNone/>
            </a:pPr>
            <a:r>
              <a:rPr lang="en-US" sz="6000" b="1" dirty="0">
                <a:solidFill>
                  <a:schemeClr val="accent1"/>
                </a:solidFill>
              </a:rPr>
              <a:t>85</a:t>
            </a:r>
            <a:pPr indent="0" marL="0">
              <a:buNone/>
            </a:pPr>
            <a:r>
              <a:rPr lang="en-US" sz="2400" dirty="0">
                <a:solidFill>
                  <a:schemeClr val="accent1"/>
                </a:solidFill>
              </a:rPr>
              <a:t> mm</a:t>
            </a:r>
            <a:endParaRPr lang="en-US" sz="6000" dirty="0"/>
          </a:p>
        </p:txBody>
      </p:sp>
      <p:sp>
        <p:nvSpPr>
          <p:cNvPr id="22" name="Tozeur aridity"/>
          <p:cNvSpPr txBox="1"/>
          <p:nvPr/>
        </p:nvSpPr>
        <p:spPr>
          <a:xfrm>
            <a:off x="8366760" y="3611880"/>
            <a:ext cx="2834640" cy="640080"/>
          </a:xfrm>
          <a:prstGeom prst="rect">
            <a:avLst/>
          </a:prstGeom>
          <a:noFill/>
          <a:ln/>
        </p:spPr>
        <p:txBody>
          <a:bodyPr wrap="square" lIns="0" tIns="0" rIns="0" bIns="0" rtlCol="0" anchor="ctr"/>
          <a:lstStyle/>
          <a:p>
            <a:pPr indent="0" marL="0">
              <a:buNone/>
            </a:pPr>
            <a:r>
              <a:rPr lang="en-US" sz="1400" dirty="0">
                <a:solidFill>
                  <a:schemeClr val="tx1"/>
                </a:solidFill>
              </a:rPr>
              <a:t>rain per year · aridity index 0.04 (hyper-arid)</a:t>
            </a:r>
            <a:endParaRPr lang="en-US" sz="1400" dirty="0"/>
          </a:p>
        </p:txBody>
      </p:sp>
      <p:sp>
        <p:nvSpPr>
          <p:cNvPr id="23" name="Tozeur best"/>
          <p:cNvSpPr txBox="1"/>
          <p:nvPr/>
        </p:nvSpPr>
        <p:spPr>
          <a:xfrm>
            <a:off x="8366760" y="4526280"/>
            <a:ext cx="2834640" cy="822960"/>
          </a:xfrm>
          <a:prstGeom prst="rect">
            <a:avLst/>
          </a:prstGeom>
          <a:noFill/>
          <a:ln/>
        </p:spPr>
        <p:txBody>
          <a:bodyPr wrap="square" lIns="0" tIns="0" rIns="0" bIns="0" rtlCol="0" anchor="ctr"/>
          <a:lstStyle/>
          <a:p>
            <a:pPr indent="0" marL="0">
              <a:buNone/>
            </a:pPr>
            <a:r>
              <a:rPr lang="en-US" sz="1200" dirty="0">
                <a:solidFill>
                  <a:schemeClr val="accent6"/>
                </a:solidFill>
              </a:rPr>
              <a:t>Best rainfed crop</a:t>
            </a:r>
            <a:endParaRPr lang="en-US" sz="1200" dirty="0"/>
          </a:p>
          <a:p>
            <a:pPr indent="0" marL="0">
              <a:buNone/>
            </a:pPr>
            <a:r>
              <a:rPr lang="en-US" sz="1800" b="1" dirty="0">
                <a:solidFill>
                  <a:schemeClr val="tx2"/>
                </a:solidFill>
              </a:rPr>
              <a:t>Date palm · 0.92 S1</a:t>
            </a:r>
            <a:endParaRPr lang="en-US" sz="1200" dirty="0"/>
          </a:p>
        </p:txBody>
      </p:sp>
      <p:sp>
        <p:nvSpPr>
          <p:cNvPr id="24" name="takeaway"/>
          <p:cNvSpPr txBox="1"/>
          <p:nvPr/>
        </p:nvSpPr>
        <p:spPr>
          <a:xfrm>
            <a:off x="548640" y="5760720"/>
            <a:ext cx="11094415" cy="457200"/>
          </a:xfrm>
          <a:prstGeom prst="rect">
            <a:avLst/>
          </a:prstGeom>
          <a:noFill/>
          <a:ln/>
        </p:spPr>
        <p:txBody>
          <a:bodyPr wrap="square" lIns="0" tIns="0" rIns="0" bIns="0" rtlCol="0" anchor="ctr"/>
          <a:lstStyle/>
          <a:p>
            <a:pPr indent="0" marL="0">
              <a:buNone/>
            </a:pPr>
            <a:r>
              <a:rPr lang="en-US" sz="1500" i="1" dirty="0">
                <a:solidFill>
                  <a:schemeClr val="tx1"/>
                </a:solidFill>
              </a:rPr>
              <a:t>Evaporative demand exceeds rainfall at every site, by up to 24 times in the Djerid oases. The wrong crop wastes water and years of investment.</a:t>
            </a:r>
            <a:endParaRPr lang="en-US" sz="1500" dirty="0"/>
          </a:p>
        </p:txBody>
      </p:sp>
      <p:sp>
        <p:nvSpPr>
          <p:cNvPr id="25" name="Slide Number Placeholder 0"/>
          <p:cNvSpPr>
            <a:spLocks noGrp="1"/>
          </p:cNvSpPr>
          <p:nvPr>
            <p:ph type="sldNum" sz="quarter" idx="4294967295"/>
          </p:nvPr>
        </p:nvSpPr>
        <p:spPr>
          <a:xfrm>
            <a:off x="1109441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AgroSuit answers three questions for any point</a:t>
            </a:r>
            <a:endParaRPr lang="en-US" sz="3200" dirty="0"/>
          </a:p>
        </p:txBody>
      </p:sp>
      <p:sp>
        <p:nvSpPr>
          <p:cNvPr id="3" name="question 1"/>
          <p:cNvSpPr/>
          <p:nvPr/>
        </p:nvSpPr>
        <p:spPr>
          <a:xfrm>
            <a:off x="548640" y="1508760"/>
            <a:ext cx="3474720" cy="3840480"/>
          </a:xfrm>
          <a:prstGeom prst="roundRect">
            <a:avLst>
              <a:gd name="adj" fmla="val 3158"/>
            </a:avLst>
          </a:prstGeom>
          <a:solidFill>
            <a:schemeClr val="bg2"/>
          </a:solidFill>
          <a:ln/>
        </p:spPr>
      </p:sp>
      <p:sp>
        <p:nvSpPr>
          <p:cNvPr id="4" name="question 1 circle"/>
          <p:cNvSpPr/>
          <p:nvPr/>
        </p:nvSpPr>
        <p:spPr>
          <a:xfrm>
            <a:off x="914400" y="1828800"/>
            <a:ext cx="914400" cy="914400"/>
          </a:xfrm>
          <a:prstGeom prst="ellipse">
            <a:avLst/>
          </a:prstGeom>
          <a:solidFill>
            <a:srgbClr val="2E7D32"/>
          </a:solidFill>
          <a:ln/>
        </p:spPr>
      </p:sp>
      <p:pic>
        <p:nvPicPr>
          <p:cNvPr id="5" name="question 1 icon" descr="question 1">    </p:cNvPr>
          <p:cNvPicPr>
            <a:picLocks noChangeAspect="1"/>
          </p:cNvPicPr>
          <p:nvPr/>
        </p:nvPicPr>
        <p:blipFill>
          <a:blip r:embed="rId1"/>
          <a:stretch>
            <a:fillRect/>
          </a:stretch>
        </p:blipFill>
        <p:spPr>
          <a:xfrm>
            <a:off x="1133856" y="2048256"/>
            <a:ext cx="475488" cy="475488"/>
          </a:xfrm>
          <a:prstGeom prst="rect">
            <a:avLst/>
          </a:prstGeom>
        </p:spPr>
      </p:pic>
      <p:sp>
        <p:nvSpPr>
          <p:cNvPr id="6" name="question 1 title"/>
          <p:cNvSpPr txBox="1"/>
          <p:nvPr/>
        </p:nvSpPr>
        <p:spPr>
          <a:xfrm>
            <a:off x="914400" y="2971800"/>
            <a:ext cx="2743200" cy="82296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What grows best here?</a:t>
            </a:r>
            <a:endParaRPr lang="en-US" sz="2200" dirty="0"/>
          </a:p>
        </p:txBody>
      </p:sp>
      <p:sp>
        <p:nvSpPr>
          <p:cNvPr id="7" name="question 1 text"/>
          <p:cNvSpPr txBox="1"/>
          <p:nvPr/>
        </p:nvSpPr>
        <p:spPr>
          <a:xfrm>
            <a:off x="914400" y="3840480"/>
            <a:ext cx="2743200" cy="1737360"/>
          </a:xfrm>
          <a:prstGeom prst="rect">
            <a:avLst/>
          </a:prstGeom>
          <a:noFill/>
          <a:ln/>
        </p:spPr>
        <p:txBody>
          <a:bodyPr wrap="square" lIns="0" tIns="0" rIns="0" bIns="0" rtlCol="0" anchor="t"/>
          <a:lstStyle/>
          <a:p>
            <a:pPr indent="0" marL="0">
              <a:buNone/>
            </a:pPr>
            <a:r>
              <a:rPr lang="en-US" sz="1600" dirty="0">
                <a:solidFill>
                  <a:schemeClr val="tx1"/>
                </a:solidFill>
              </a:rPr>
              <a:t>Ranks 13 crops with a 0–1 score and an FAO class: S1, S2, S3 or N.</a:t>
            </a:r>
            <a:endParaRPr lang="en-US" sz="1600" dirty="0"/>
          </a:p>
        </p:txBody>
      </p:sp>
      <p:sp>
        <p:nvSpPr>
          <p:cNvPr id="8" name="question 2"/>
          <p:cNvSpPr/>
          <p:nvPr/>
        </p:nvSpPr>
        <p:spPr>
          <a:xfrm>
            <a:off x="4297680" y="1508760"/>
            <a:ext cx="3474720" cy="3840480"/>
          </a:xfrm>
          <a:prstGeom prst="roundRect">
            <a:avLst>
              <a:gd name="adj" fmla="val 3158"/>
            </a:avLst>
          </a:prstGeom>
          <a:solidFill>
            <a:schemeClr val="bg2"/>
          </a:solidFill>
          <a:ln/>
        </p:spPr>
      </p:sp>
      <p:sp>
        <p:nvSpPr>
          <p:cNvPr id="9" name="question 2 circle"/>
          <p:cNvSpPr/>
          <p:nvPr/>
        </p:nvSpPr>
        <p:spPr>
          <a:xfrm>
            <a:off x="4663440" y="1828800"/>
            <a:ext cx="914400" cy="914400"/>
          </a:xfrm>
          <a:prstGeom prst="ellipse">
            <a:avLst/>
          </a:prstGeom>
          <a:solidFill>
            <a:srgbClr val="2E7D32"/>
          </a:solidFill>
          <a:ln/>
        </p:spPr>
      </p:sp>
      <p:pic>
        <p:nvPicPr>
          <p:cNvPr id="10" name="question 2 icon" descr="question 2">    </p:cNvPr>
          <p:cNvPicPr>
            <a:picLocks noChangeAspect="1"/>
          </p:cNvPicPr>
          <p:nvPr/>
        </p:nvPicPr>
        <p:blipFill>
          <a:blip r:embed="rId2"/>
          <a:stretch>
            <a:fillRect/>
          </a:stretch>
        </p:blipFill>
        <p:spPr>
          <a:xfrm>
            <a:off x="4882896" y="2048256"/>
            <a:ext cx="475488" cy="475488"/>
          </a:xfrm>
          <a:prstGeom prst="rect">
            <a:avLst/>
          </a:prstGeom>
        </p:spPr>
      </p:pic>
      <p:sp>
        <p:nvSpPr>
          <p:cNvPr id="11" name="question 2 title"/>
          <p:cNvSpPr txBox="1"/>
          <p:nvPr/>
        </p:nvSpPr>
        <p:spPr>
          <a:xfrm>
            <a:off x="4663440" y="2971800"/>
            <a:ext cx="2743200" cy="82296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Why not the others?</a:t>
            </a:r>
            <a:endParaRPr lang="en-US" sz="2200" dirty="0"/>
          </a:p>
        </p:txBody>
      </p:sp>
      <p:sp>
        <p:nvSpPr>
          <p:cNvPr id="12" name="question 2 text"/>
          <p:cNvSpPr txBox="1"/>
          <p:nvPr/>
        </p:nvSpPr>
        <p:spPr>
          <a:xfrm>
            <a:off x="4663440" y="3840480"/>
            <a:ext cx="2743200" cy="1737360"/>
          </a:xfrm>
          <a:prstGeom prst="rect">
            <a:avLst/>
          </a:prstGeom>
          <a:noFill/>
          <a:ln/>
        </p:spPr>
        <p:txBody>
          <a:bodyPr wrap="square" lIns="0" tIns="0" rIns="0" bIns="0" rtlCol="0" anchor="t"/>
          <a:lstStyle/>
          <a:p>
            <a:pPr indent="0" marL="0">
              <a:buNone/>
            </a:pPr>
            <a:r>
              <a:rPr lang="en-US" sz="1600" dirty="0">
                <a:solidFill>
                  <a:schemeClr val="tx1"/>
                </a:solidFill>
              </a:rPr>
              <a:t>Shows the limiting factor of every crop and the score of each of its 7 factors.</a:t>
            </a:r>
            <a:endParaRPr lang="en-US" sz="1600" dirty="0"/>
          </a:p>
        </p:txBody>
      </p:sp>
      <p:sp>
        <p:nvSpPr>
          <p:cNvPr id="13" name="question 3"/>
          <p:cNvSpPr/>
          <p:nvPr/>
        </p:nvSpPr>
        <p:spPr>
          <a:xfrm>
            <a:off x="8046720" y="1508760"/>
            <a:ext cx="3474720" cy="3840480"/>
          </a:xfrm>
          <a:prstGeom prst="roundRect">
            <a:avLst>
              <a:gd name="adj" fmla="val 3158"/>
            </a:avLst>
          </a:prstGeom>
          <a:solidFill>
            <a:schemeClr val="bg2"/>
          </a:solidFill>
          <a:ln/>
        </p:spPr>
      </p:sp>
      <p:sp>
        <p:nvSpPr>
          <p:cNvPr id="14" name="question 3 circle"/>
          <p:cNvSpPr/>
          <p:nvPr/>
        </p:nvSpPr>
        <p:spPr>
          <a:xfrm>
            <a:off x="8412480" y="1828800"/>
            <a:ext cx="914400" cy="914400"/>
          </a:xfrm>
          <a:prstGeom prst="ellipse">
            <a:avLst/>
          </a:prstGeom>
          <a:solidFill>
            <a:srgbClr val="2E7D32"/>
          </a:solidFill>
          <a:ln/>
        </p:spPr>
      </p:sp>
      <p:pic>
        <p:nvPicPr>
          <p:cNvPr id="15" name="question 3 icon" descr="question 3">    </p:cNvPr>
          <p:cNvPicPr>
            <a:picLocks noChangeAspect="1"/>
          </p:cNvPicPr>
          <p:nvPr/>
        </p:nvPicPr>
        <p:blipFill>
          <a:blip r:embed="rId3"/>
          <a:stretch>
            <a:fillRect/>
          </a:stretch>
        </p:blipFill>
        <p:spPr>
          <a:xfrm>
            <a:off x="8631936" y="2048256"/>
            <a:ext cx="475488" cy="475488"/>
          </a:xfrm>
          <a:prstGeom prst="rect">
            <a:avLst/>
          </a:prstGeom>
        </p:spPr>
      </p:pic>
      <p:sp>
        <p:nvSpPr>
          <p:cNvPr id="16" name="question 3 title"/>
          <p:cNvSpPr txBox="1"/>
          <p:nvPr/>
        </p:nvSpPr>
        <p:spPr>
          <a:xfrm>
            <a:off x="8412480" y="2971800"/>
            <a:ext cx="2743200" cy="82296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What would change it?</a:t>
            </a:r>
            <a:endParaRPr lang="en-US" sz="2200" dirty="0"/>
          </a:p>
        </p:txBody>
      </p:sp>
      <p:sp>
        <p:nvSpPr>
          <p:cNvPr id="17" name="question 3 text"/>
          <p:cNvSpPr txBox="1"/>
          <p:nvPr/>
        </p:nvSpPr>
        <p:spPr>
          <a:xfrm>
            <a:off x="8412480" y="3840480"/>
            <a:ext cx="2743200" cy="1737360"/>
          </a:xfrm>
          <a:prstGeom prst="rect">
            <a:avLst/>
          </a:prstGeom>
          <a:noFill/>
          <a:ln/>
        </p:spPr>
        <p:txBody>
          <a:bodyPr wrap="square" lIns="0" tIns="0" rIns="0" bIns="0" rtlCol="0" anchor="t"/>
          <a:lstStyle/>
          <a:p>
            <a:pPr indent="0" marL="0">
              <a:buNone/>
            </a:pPr>
            <a:r>
              <a:rPr lang="en-US" sz="1600" dirty="0">
                <a:solidFill>
                  <a:schemeClr val="tx1"/>
                </a:solidFill>
              </a:rPr>
              <a:t>Turns each gap into an action, such as an irrigation deficit in mm, liming or frost protection, and compares rainfed with irrigated.</a:t>
            </a:r>
            <a:endParaRPr lang="en-US" sz="1600" dirty="0"/>
          </a:p>
        </p:txBody>
      </p:sp>
      <p:sp>
        <p:nvSpPr>
          <p:cNvPr id="25" name="Slide Number Placeholder 0"/>
          <p:cNvSpPr>
            <a:spLocks noGrp="1"/>
          </p:cNvSpPr>
          <p:nvPr>
            <p:ph type="sldNum" sz="quarter" idx="4294967295"/>
          </p:nvPr>
        </p:nvSpPr>
        <p:spPr>
          <a:xfrm>
            <a:off x="1109441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Built entirely on free, global, open data</a:t>
            </a:r>
            <a:endParaRPr lang="en-US" sz="3200" dirty="0"/>
          </a:p>
        </p:txBody>
      </p:sp>
      <p:sp>
        <p:nvSpPr>
          <p:cNvPr id="3" name="layer 1"/>
          <p:cNvSpPr/>
          <p:nvPr/>
        </p:nvSpPr>
        <p:spPr>
          <a:xfrm>
            <a:off x="548640" y="1417320"/>
            <a:ext cx="11094415" cy="1005840"/>
          </a:xfrm>
          <a:prstGeom prst="roundRect">
            <a:avLst>
              <a:gd name="adj" fmla="val 10909"/>
            </a:avLst>
          </a:prstGeom>
          <a:solidFill>
            <a:schemeClr val="bg2"/>
          </a:solidFill>
          <a:ln/>
        </p:spPr>
      </p:sp>
      <p:sp>
        <p:nvSpPr>
          <p:cNvPr id="4" name="layer 1 circle"/>
          <p:cNvSpPr/>
          <p:nvPr/>
        </p:nvSpPr>
        <p:spPr>
          <a:xfrm>
            <a:off x="777240" y="1572768"/>
            <a:ext cx="694944" cy="694944"/>
          </a:xfrm>
          <a:prstGeom prst="ellipse">
            <a:avLst/>
          </a:prstGeom>
          <a:solidFill>
            <a:srgbClr val="2E7D32"/>
          </a:solidFill>
          <a:ln/>
        </p:spPr>
      </p:sp>
      <p:pic>
        <p:nvPicPr>
          <p:cNvPr id="5" name="layer 1 icon" descr="layer 1">    </p:cNvPr>
          <p:cNvPicPr>
            <a:picLocks noChangeAspect="1"/>
          </p:cNvPicPr>
          <p:nvPr/>
        </p:nvPicPr>
        <p:blipFill>
          <a:blip r:embed="rId1"/>
          <a:stretch>
            <a:fillRect/>
          </a:stretch>
        </p:blipFill>
        <p:spPr>
          <a:xfrm>
            <a:off x="944027" y="1739555"/>
            <a:ext cx="361371" cy="361371"/>
          </a:xfrm>
          <a:prstGeom prst="rect">
            <a:avLst/>
          </a:prstGeom>
        </p:spPr>
      </p:pic>
      <p:sp>
        <p:nvSpPr>
          <p:cNvPr id="6" name="layer 1 text"/>
          <p:cNvSpPr txBox="1"/>
          <p:nvPr/>
        </p:nvSpPr>
        <p:spPr>
          <a:xfrm>
            <a:off x="1737360" y="1508760"/>
            <a:ext cx="8138160" cy="822960"/>
          </a:xfrm>
          <a:prstGeom prst="rect">
            <a:avLst/>
          </a:prstGeom>
          <a:noFill/>
          <a:ln/>
        </p:spPr>
        <p:txBody>
          <a:bodyPr wrap="square" lIns="0" tIns="0" rIns="0" bIns="0" rtlCol="0" anchor="ctr"/>
          <a:lstStyle/>
          <a:p>
            <a:pPr indent="0" marL="0">
              <a:buNone/>
            </a:pPr>
            <a:r>
              <a:rPr lang="en-US" sz="1900" b="1" dirty="0">
                <a:solidFill>
                  <a:schemeClr val="tx2"/>
                </a:solidFill>
              </a:rPr>
              <a:t>Climate · ERA5 reanalysis</a:t>
            </a:r>
            <a:endParaRPr lang="en-US" sz="1900" dirty="0"/>
          </a:p>
          <a:p>
            <a:pPr indent="0" marL="0">
              <a:buNone/>
            </a:pPr>
            <a:r>
              <a:rPr lang="en-US" sz="1500" dirty="0">
                <a:solidFill>
                  <a:schemeClr val="tx1"/>
                </a:solidFill>
              </a:rPr>
              <a:t>10-year daily series via Open-Meteo: temperature, rainfall and FAO-56 evapotranspiration</a:t>
            </a:r>
            <a:endParaRPr lang="en-US" sz="1900" dirty="0"/>
          </a:p>
        </p:txBody>
      </p:sp>
      <p:sp>
        <p:nvSpPr>
          <p:cNvPr id="7" name="layer 1 chip"/>
          <p:cNvSpPr/>
          <p:nvPr/>
        </p:nvSpPr>
        <p:spPr>
          <a:xfrm>
            <a:off x="10042855" y="1691640"/>
            <a:ext cx="1371600" cy="457200"/>
          </a:xfrm>
          <a:prstGeom prst="roundRect">
            <a:avLst>
              <a:gd name="adj" fmla="val 50000"/>
            </a:avLst>
          </a:prstGeom>
          <a:solidFill>
            <a:schemeClr val="bg1"/>
          </a:solidFill>
          <a:ln w="12700">
            <a:solidFill>
              <a:schemeClr val="accent1"/>
            </a:solidFill>
            <a:prstDash val="solid"/>
          </a:ln>
        </p:spPr>
      </p:sp>
      <p:sp>
        <p:nvSpPr>
          <p:cNvPr id="8" name="layer 1 resolution"/>
          <p:cNvSpPr txBox="1"/>
          <p:nvPr/>
        </p:nvSpPr>
        <p:spPr>
          <a:xfrm>
            <a:off x="10042855" y="1691640"/>
            <a:ext cx="1371600" cy="457200"/>
          </a:xfrm>
          <a:prstGeom prst="rect">
            <a:avLst/>
          </a:prstGeom>
          <a:noFill/>
          <a:ln/>
        </p:spPr>
        <p:txBody>
          <a:bodyPr wrap="square" lIns="0" tIns="0" rIns="0" bIns="0" rtlCol="0" anchor="ctr"/>
          <a:lstStyle/>
          <a:p>
            <a:pPr algn="ctr" indent="0" marL="0">
              <a:buNone/>
            </a:pPr>
            <a:r>
              <a:rPr lang="en-US" sz="1500" b="1" dirty="0">
                <a:solidFill>
                  <a:schemeClr val="accent1"/>
                </a:solidFill>
              </a:rPr>
              <a:t>~25 km</a:t>
            </a:r>
            <a:endParaRPr lang="en-US" sz="1500" dirty="0"/>
          </a:p>
        </p:txBody>
      </p:sp>
      <p:sp>
        <p:nvSpPr>
          <p:cNvPr id="9" name="layer 2"/>
          <p:cNvSpPr/>
          <p:nvPr/>
        </p:nvSpPr>
        <p:spPr>
          <a:xfrm>
            <a:off x="548640" y="2606040"/>
            <a:ext cx="11094415" cy="1005840"/>
          </a:xfrm>
          <a:prstGeom prst="roundRect">
            <a:avLst>
              <a:gd name="adj" fmla="val 10909"/>
            </a:avLst>
          </a:prstGeom>
          <a:solidFill>
            <a:schemeClr val="bg2"/>
          </a:solidFill>
          <a:ln/>
        </p:spPr>
      </p:sp>
      <p:sp>
        <p:nvSpPr>
          <p:cNvPr id="10" name="layer 2 circle"/>
          <p:cNvSpPr/>
          <p:nvPr/>
        </p:nvSpPr>
        <p:spPr>
          <a:xfrm>
            <a:off x="777240" y="2761488"/>
            <a:ext cx="694944" cy="694944"/>
          </a:xfrm>
          <a:prstGeom prst="ellipse">
            <a:avLst/>
          </a:prstGeom>
          <a:solidFill>
            <a:srgbClr val="2E7D32"/>
          </a:solidFill>
          <a:ln/>
        </p:spPr>
      </p:sp>
      <p:pic>
        <p:nvPicPr>
          <p:cNvPr id="11" name="layer 2 icon" descr="layer 2">    </p:cNvPr>
          <p:cNvPicPr>
            <a:picLocks noChangeAspect="1"/>
          </p:cNvPicPr>
          <p:nvPr/>
        </p:nvPicPr>
        <p:blipFill>
          <a:blip r:embed="rId2"/>
          <a:stretch>
            <a:fillRect/>
          </a:stretch>
        </p:blipFill>
        <p:spPr>
          <a:xfrm>
            <a:off x="944027" y="2928275"/>
            <a:ext cx="361371" cy="361371"/>
          </a:xfrm>
          <a:prstGeom prst="rect">
            <a:avLst/>
          </a:prstGeom>
        </p:spPr>
      </p:pic>
      <p:sp>
        <p:nvSpPr>
          <p:cNvPr id="12" name="layer 2 text"/>
          <p:cNvSpPr txBox="1"/>
          <p:nvPr/>
        </p:nvSpPr>
        <p:spPr>
          <a:xfrm>
            <a:off x="1737360" y="2697480"/>
            <a:ext cx="8138160" cy="822960"/>
          </a:xfrm>
          <a:prstGeom prst="rect">
            <a:avLst/>
          </a:prstGeom>
          <a:noFill/>
          <a:ln/>
        </p:spPr>
        <p:txBody>
          <a:bodyPr wrap="square" lIns="0" tIns="0" rIns="0" bIns="0" rtlCol="0" anchor="ctr"/>
          <a:lstStyle/>
          <a:p>
            <a:pPr indent="0" marL="0">
              <a:buNone/>
            </a:pPr>
            <a:r>
              <a:rPr lang="en-US" sz="1900" b="1" dirty="0">
                <a:solidFill>
                  <a:schemeClr val="tx2"/>
                </a:solidFill>
              </a:rPr>
              <a:t>Soil · ISRIC SoilGrids 2.0</a:t>
            </a:r>
            <a:endParaRPr lang="en-US" sz="1900" dirty="0"/>
          </a:p>
          <a:p>
            <a:pPr indent="0" marL="0">
              <a:buNone/>
            </a:pPr>
            <a:r>
              <a:rPr lang="en-US" sz="1500" dirty="0">
                <a:solidFill>
                  <a:schemeClr val="tx1"/>
                </a:solidFill>
              </a:rPr>
              <a:t>pH, clay, sand and organic carbon, thickness-weighted over 0–30 cm</a:t>
            </a:r>
            <a:endParaRPr lang="en-US" sz="1900" dirty="0"/>
          </a:p>
        </p:txBody>
      </p:sp>
      <p:sp>
        <p:nvSpPr>
          <p:cNvPr id="13" name="layer 2 chip"/>
          <p:cNvSpPr/>
          <p:nvPr/>
        </p:nvSpPr>
        <p:spPr>
          <a:xfrm>
            <a:off x="10042855" y="2880360"/>
            <a:ext cx="1371600" cy="457200"/>
          </a:xfrm>
          <a:prstGeom prst="roundRect">
            <a:avLst>
              <a:gd name="adj" fmla="val 50000"/>
            </a:avLst>
          </a:prstGeom>
          <a:solidFill>
            <a:schemeClr val="bg1"/>
          </a:solidFill>
          <a:ln w="12700">
            <a:solidFill>
              <a:schemeClr val="accent1"/>
            </a:solidFill>
            <a:prstDash val="solid"/>
          </a:ln>
        </p:spPr>
      </p:sp>
      <p:sp>
        <p:nvSpPr>
          <p:cNvPr id="14" name="layer 2 resolution"/>
          <p:cNvSpPr txBox="1"/>
          <p:nvPr/>
        </p:nvSpPr>
        <p:spPr>
          <a:xfrm>
            <a:off x="10042855" y="2880360"/>
            <a:ext cx="1371600" cy="457200"/>
          </a:xfrm>
          <a:prstGeom prst="rect">
            <a:avLst/>
          </a:prstGeom>
          <a:noFill/>
          <a:ln/>
        </p:spPr>
        <p:txBody>
          <a:bodyPr wrap="square" lIns="0" tIns="0" rIns="0" bIns="0" rtlCol="0" anchor="ctr"/>
          <a:lstStyle/>
          <a:p>
            <a:pPr algn="ctr" indent="0" marL="0">
              <a:buNone/>
            </a:pPr>
            <a:r>
              <a:rPr lang="en-US" sz="1500" b="1" dirty="0">
                <a:solidFill>
                  <a:schemeClr val="accent1"/>
                </a:solidFill>
              </a:rPr>
              <a:t>250 m</a:t>
            </a:r>
            <a:endParaRPr lang="en-US" sz="1500" dirty="0"/>
          </a:p>
        </p:txBody>
      </p:sp>
      <p:sp>
        <p:nvSpPr>
          <p:cNvPr id="15" name="layer 3"/>
          <p:cNvSpPr/>
          <p:nvPr/>
        </p:nvSpPr>
        <p:spPr>
          <a:xfrm>
            <a:off x="548640" y="3794760"/>
            <a:ext cx="11094415" cy="1005840"/>
          </a:xfrm>
          <a:prstGeom prst="roundRect">
            <a:avLst>
              <a:gd name="adj" fmla="val 10909"/>
            </a:avLst>
          </a:prstGeom>
          <a:solidFill>
            <a:schemeClr val="bg2"/>
          </a:solidFill>
          <a:ln/>
        </p:spPr>
      </p:sp>
      <p:sp>
        <p:nvSpPr>
          <p:cNvPr id="16" name="layer 3 circle"/>
          <p:cNvSpPr/>
          <p:nvPr/>
        </p:nvSpPr>
        <p:spPr>
          <a:xfrm>
            <a:off x="777240" y="3950208"/>
            <a:ext cx="694944" cy="694944"/>
          </a:xfrm>
          <a:prstGeom prst="ellipse">
            <a:avLst/>
          </a:prstGeom>
          <a:solidFill>
            <a:srgbClr val="2E7D32"/>
          </a:solidFill>
          <a:ln/>
        </p:spPr>
      </p:sp>
      <p:pic>
        <p:nvPicPr>
          <p:cNvPr id="17" name="layer 3 icon" descr="layer 3">    </p:cNvPr>
          <p:cNvPicPr>
            <a:picLocks noChangeAspect="1"/>
          </p:cNvPicPr>
          <p:nvPr/>
        </p:nvPicPr>
        <p:blipFill>
          <a:blip r:embed="rId3"/>
          <a:stretch>
            <a:fillRect/>
          </a:stretch>
        </p:blipFill>
        <p:spPr>
          <a:xfrm>
            <a:off x="944027" y="4116995"/>
            <a:ext cx="361371" cy="361371"/>
          </a:xfrm>
          <a:prstGeom prst="rect">
            <a:avLst/>
          </a:prstGeom>
        </p:spPr>
      </p:pic>
      <p:sp>
        <p:nvSpPr>
          <p:cNvPr id="18" name="layer 3 text"/>
          <p:cNvSpPr txBox="1"/>
          <p:nvPr/>
        </p:nvSpPr>
        <p:spPr>
          <a:xfrm>
            <a:off x="1737360" y="3886200"/>
            <a:ext cx="8138160" cy="822960"/>
          </a:xfrm>
          <a:prstGeom prst="rect">
            <a:avLst/>
          </a:prstGeom>
          <a:noFill/>
          <a:ln/>
        </p:spPr>
        <p:txBody>
          <a:bodyPr wrap="square" lIns="0" tIns="0" rIns="0" bIns="0" rtlCol="0" anchor="ctr"/>
          <a:lstStyle/>
          <a:p>
            <a:pPr indent="0" marL="0">
              <a:buNone/>
            </a:pPr>
            <a:r>
              <a:rPr lang="en-US" sz="1900" b="1" dirty="0">
                <a:solidFill>
                  <a:schemeClr val="tx2"/>
                </a:solidFill>
              </a:rPr>
              <a:t>Terrain · Copernicus GLO-90</a:t>
            </a:r>
            <a:endParaRPr lang="en-US" sz="1900" dirty="0"/>
          </a:p>
          <a:p>
            <a:pPr indent="0" marL="0">
              <a:buNone/>
            </a:pPr>
            <a:r>
              <a:rPr lang="en-US" sz="1500" dirty="0">
                <a:solidFill>
                  <a:schemeClr val="tx1"/>
                </a:solidFill>
              </a:rPr>
              <a:t>Elevation; also used to mask sea cells in regional scans</a:t>
            </a:r>
            <a:endParaRPr lang="en-US" sz="1900" dirty="0"/>
          </a:p>
        </p:txBody>
      </p:sp>
      <p:sp>
        <p:nvSpPr>
          <p:cNvPr id="19" name="layer 3 chip"/>
          <p:cNvSpPr/>
          <p:nvPr/>
        </p:nvSpPr>
        <p:spPr>
          <a:xfrm>
            <a:off x="10042855" y="4069080"/>
            <a:ext cx="1371600" cy="457200"/>
          </a:xfrm>
          <a:prstGeom prst="roundRect">
            <a:avLst>
              <a:gd name="adj" fmla="val 50000"/>
            </a:avLst>
          </a:prstGeom>
          <a:solidFill>
            <a:schemeClr val="bg1"/>
          </a:solidFill>
          <a:ln w="12700">
            <a:solidFill>
              <a:schemeClr val="accent1"/>
            </a:solidFill>
            <a:prstDash val="solid"/>
          </a:ln>
        </p:spPr>
      </p:sp>
      <p:sp>
        <p:nvSpPr>
          <p:cNvPr id="20" name="layer 3 resolution"/>
          <p:cNvSpPr txBox="1"/>
          <p:nvPr/>
        </p:nvSpPr>
        <p:spPr>
          <a:xfrm>
            <a:off x="10042855" y="4069080"/>
            <a:ext cx="1371600" cy="457200"/>
          </a:xfrm>
          <a:prstGeom prst="rect">
            <a:avLst/>
          </a:prstGeom>
          <a:noFill/>
          <a:ln/>
        </p:spPr>
        <p:txBody>
          <a:bodyPr wrap="square" lIns="0" tIns="0" rIns="0" bIns="0" rtlCol="0" anchor="ctr"/>
          <a:lstStyle/>
          <a:p>
            <a:pPr algn="ctr" indent="0" marL="0">
              <a:buNone/>
            </a:pPr>
            <a:r>
              <a:rPr lang="en-US" sz="1500" b="1" dirty="0">
                <a:solidFill>
                  <a:schemeClr val="accent1"/>
                </a:solidFill>
              </a:rPr>
              <a:t>90 m</a:t>
            </a:r>
            <a:endParaRPr lang="en-US" sz="1500" dirty="0"/>
          </a:p>
        </p:txBody>
      </p:sp>
      <p:sp>
        <p:nvSpPr>
          <p:cNvPr id="21" name="layer 4"/>
          <p:cNvSpPr/>
          <p:nvPr/>
        </p:nvSpPr>
        <p:spPr>
          <a:xfrm>
            <a:off x="548640" y="4983480"/>
            <a:ext cx="11094415" cy="1005840"/>
          </a:xfrm>
          <a:prstGeom prst="roundRect">
            <a:avLst>
              <a:gd name="adj" fmla="val 10909"/>
            </a:avLst>
          </a:prstGeom>
          <a:solidFill>
            <a:schemeClr val="bg2"/>
          </a:solidFill>
          <a:ln/>
        </p:spPr>
      </p:sp>
      <p:sp>
        <p:nvSpPr>
          <p:cNvPr id="22" name="layer 4 circle"/>
          <p:cNvSpPr/>
          <p:nvPr/>
        </p:nvSpPr>
        <p:spPr>
          <a:xfrm>
            <a:off x="777240" y="5138928"/>
            <a:ext cx="694944" cy="694944"/>
          </a:xfrm>
          <a:prstGeom prst="ellipse">
            <a:avLst/>
          </a:prstGeom>
          <a:solidFill>
            <a:srgbClr val="2E7D32"/>
          </a:solidFill>
          <a:ln/>
        </p:spPr>
      </p:sp>
      <p:pic>
        <p:nvPicPr>
          <p:cNvPr id="23" name="layer 4 icon" descr="layer 4">    </p:cNvPr>
          <p:cNvPicPr>
            <a:picLocks noChangeAspect="1"/>
          </p:cNvPicPr>
          <p:nvPr/>
        </p:nvPicPr>
        <p:blipFill>
          <a:blip r:embed="rId4"/>
          <a:stretch>
            <a:fillRect/>
          </a:stretch>
        </p:blipFill>
        <p:spPr>
          <a:xfrm>
            <a:off x="944027" y="5305715"/>
            <a:ext cx="361371" cy="361371"/>
          </a:xfrm>
          <a:prstGeom prst="rect">
            <a:avLst/>
          </a:prstGeom>
        </p:spPr>
      </p:pic>
      <p:sp>
        <p:nvSpPr>
          <p:cNvPr id="24" name="layer 4 text"/>
          <p:cNvSpPr txBox="1"/>
          <p:nvPr/>
        </p:nvSpPr>
        <p:spPr>
          <a:xfrm>
            <a:off x="1737360" y="5074920"/>
            <a:ext cx="8138160" cy="822960"/>
          </a:xfrm>
          <a:prstGeom prst="rect">
            <a:avLst/>
          </a:prstGeom>
          <a:noFill/>
          <a:ln/>
        </p:spPr>
        <p:txBody>
          <a:bodyPr wrap="square" lIns="0" tIns="0" rIns="0" bIns="0" rtlCol="0" anchor="ctr"/>
          <a:lstStyle/>
          <a:p>
            <a:pPr indent="0" marL="0">
              <a:buNone/>
            </a:pPr>
            <a:r>
              <a:rPr lang="en-US" sz="1900" b="1" dirty="0">
                <a:solidFill>
                  <a:schemeClr val="tx2"/>
                </a:solidFill>
              </a:rPr>
              <a:t>Vegetation · Sentinel-2 (optional)</a:t>
            </a:r>
            <a:endParaRPr lang="en-US" sz="1900" dirty="0"/>
          </a:p>
          <a:p>
            <a:pPr indent="0" marL="0">
              <a:buNone/>
            </a:pPr>
            <a:r>
              <a:rPr lang="en-US" sz="1500" dirty="0">
                <a:solidFill>
                  <a:schemeClr val="tx1"/>
                </a:solidFill>
              </a:rPr>
              <a:t>Spring NDVI, SAVI and NDMI through Google Earth Engine, shown as context</a:t>
            </a:r>
            <a:endParaRPr lang="en-US" sz="1900" dirty="0"/>
          </a:p>
        </p:txBody>
      </p:sp>
      <p:sp>
        <p:nvSpPr>
          <p:cNvPr id="25" name="layer 4 chip"/>
          <p:cNvSpPr/>
          <p:nvPr/>
        </p:nvSpPr>
        <p:spPr>
          <a:xfrm>
            <a:off x="10042855" y="5257800"/>
            <a:ext cx="1371600" cy="457200"/>
          </a:xfrm>
          <a:prstGeom prst="roundRect">
            <a:avLst>
              <a:gd name="adj" fmla="val 50000"/>
            </a:avLst>
          </a:prstGeom>
          <a:solidFill>
            <a:schemeClr val="bg1"/>
          </a:solidFill>
          <a:ln w="12700">
            <a:solidFill>
              <a:schemeClr val="accent1"/>
            </a:solidFill>
            <a:prstDash val="solid"/>
          </a:ln>
        </p:spPr>
      </p:sp>
      <p:sp>
        <p:nvSpPr>
          <p:cNvPr id="26" name="layer 4 resolution"/>
          <p:cNvSpPr txBox="1"/>
          <p:nvPr/>
        </p:nvSpPr>
        <p:spPr>
          <a:xfrm>
            <a:off x="10042855" y="5257800"/>
            <a:ext cx="1371600" cy="457200"/>
          </a:xfrm>
          <a:prstGeom prst="rect">
            <a:avLst/>
          </a:prstGeom>
          <a:noFill/>
          <a:ln/>
        </p:spPr>
        <p:txBody>
          <a:bodyPr wrap="square" lIns="0" tIns="0" rIns="0" bIns="0" rtlCol="0" anchor="ctr"/>
          <a:lstStyle/>
          <a:p>
            <a:pPr algn="ctr" indent="0" marL="0">
              <a:buNone/>
            </a:pPr>
            <a:r>
              <a:rPr lang="en-US" sz="1500" b="1" dirty="0">
                <a:solidFill>
                  <a:schemeClr val="accent1"/>
                </a:solidFill>
              </a:rPr>
              <a:t>10–20 m</a:t>
            </a:r>
            <a:endParaRPr lang="en-US" sz="1500" dirty="0"/>
          </a:p>
        </p:txBody>
      </p:sp>
      <p:sp>
        <p:nvSpPr>
          <p:cNvPr id="25" name="Slide Number Placeholder 0"/>
          <p:cNvSpPr>
            <a:spLocks noGrp="1"/>
          </p:cNvSpPr>
          <p:nvPr>
            <p:ph type="sldNum" sz="quarter" idx="4294967295"/>
          </p:nvPr>
        </p:nvSpPr>
        <p:spPr>
          <a:xfrm>
            <a:off x="1109441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From coordinates to recommendation in five steps</a:t>
            </a:r>
            <a:endParaRPr lang="en-US" sz="3200" dirty="0"/>
          </a:p>
        </p:txBody>
      </p:sp>
      <p:sp>
        <p:nvSpPr>
          <p:cNvPr id="3" name="step 1 circle"/>
          <p:cNvSpPr/>
          <p:nvPr/>
        </p:nvSpPr>
        <p:spPr>
          <a:xfrm>
            <a:off x="1051560" y="1600200"/>
            <a:ext cx="1005840" cy="1005840"/>
          </a:xfrm>
          <a:prstGeom prst="ellipse">
            <a:avLst/>
          </a:prstGeom>
          <a:solidFill>
            <a:schemeClr val="accent1"/>
          </a:solidFill>
          <a:ln/>
        </p:spPr>
      </p:sp>
      <p:sp>
        <p:nvSpPr>
          <p:cNvPr id="4" name="step 1 number"/>
          <p:cNvSpPr txBox="1"/>
          <p:nvPr/>
        </p:nvSpPr>
        <p:spPr>
          <a:xfrm>
            <a:off x="1051560" y="1600200"/>
            <a:ext cx="1005840" cy="1005840"/>
          </a:xfrm>
          <a:prstGeom prst="rect">
            <a:avLst/>
          </a:prstGeom>
          <a:noFill/>
          <a:ln/>
        </p:spPr>
        <p:txBody>
          <a:bodyPr wrap="square" lIns="0" tIns="0" rIns="0" bIns="0" rtlCol="0" anchor="ctr"/>
          <a:lstStyle/>
          <a:p>
            <a:pPr algn="ctr" indent="0" marL="0">
              <a:buNone/>
            </a:pPr>
            <a:r>
              <a:rPr lang="en-US" sz="3200" b="1" dirty="0">
                <a:solidFill>
                  <a:schemeClr val="bg1"/>
                </a:solidFill>
              </a:rPr>
              <a:t>1</a:t>
            </a:r>
            <a:endParaRPr lang="en-US" sz="3200" dirty="0"/>
          </a:p>
        </p:txBody>
      </p:sp>
      <p:sp>
        <p:nvSpPr>
          <p:cNvPr id="5" name="arrow 1"/>
          <p:cNvSpPr/>
          <p:nvPr/>
        </p:nvSpPr>
        <p:spPr>
          <a:xfrm>
            <a:off x="2194560" y="2103120"/>
            <a:ext cx="990524" cy="0"/>
          </a:xfrm>
          <a:prstGeom prst="line">
            <a:avLst/>
          </a:prstGeom>
          <a:noFill/>
          <a:ln w="25400">
            <a:solidFill>
              <a:schemeClr val="accent6"/>
            </a:solidFill>
            <a:prstDash val="solid"/>
            <a:tailEnd type="triangle"/>
          </a:ln>
        </p:spPr>
      </p:sp>
      <p:sp>
        <p:nvSpPr>
          <p:cNvPr id="6" name="step 1 title"/>
          <p:cNvSpPr txBox="1"/>
          <p:nvPr/>
        </p:nvSpPr>
        <p:spPr>
          <a:xfrm>
            <a:off x="548640" y="2788920"/>
            <a:ext cx="2011680" cy="502920"/>
          </a:xfrm>
          <a:prstGeom prst="rect">
            <a:avLst/>
          </a:prstGeom>
          <a:noFill/>
          <a:ln/>
        </p:spPr>
        <p:txBody>
          <a:bodyPr wrap="square" lIns="0" tIns="0" rIns="0" bIns="0" rtlCol="0" anchor="ctr"/>
          <a:lstStyle/>
          <a:p>
            <a:pPr algn="ctr" indent="0" marL="0">
              <a:buNone/>
            </a:pPr>
            <a:r>
              <a:rPr lang="en-US" sz="2100" b="1" dirty="0">
                <a:solidFill>
                  <a:schemeClr val="tx2"/>
                </a:solidFill>
                <a:latin typeface="Cambria" pitchFamily="34" charset="0"/>
                <a:ea typeface="Cambria" pitchFamily="34" charset="-122"/>
                <a:cs typeface="Cambria" pitchFamily="34" charset="-120"/>
              </a:rPr>
              <a:t>Fetch</a:t>
            </a:r>
            <a:endParaRPr lang="en-US" sz="2100" dirty="0"/>
          </a:p>
        </p:txBody>
      </p:sp>
      <p:sp>
        <p:nvSpPr>
          <p:cNvPr id="7" name="step 1 text"/>
          <p:cNvSpPr txBox="1"/>
          <p:nvPr/>
        </p:nvSpPr>
        <p:spPr>
          <a:xfrm>
            <a:off x="548640" y="3337560"/>
            <a:ext cx="2011680" cy="1280160"/>
          </a:xfrm>
          <a:prstGeom prst="rect">
            <a:avLst/>
          </a:prstGeom>
          <a:noFill/>
          <a:ln/>
        </p:spPr>
        <p:txBody>
          <a:bodyPr wrap="square" lIns="0" tIns="0" rIns="0" bIns="0" rtlCol="0" anchor="t"/>
          <a:lstStyle/>
          <a:p>
            <a:pPr algn="ctr" indent="0" marL="0">
              <a:buNone/>
            </a:pPr>
            <a:r>
              <a:rPr lang="en-US" sz="1500" dirty="0">
                <a:solidFill>
                  <a:schemeClr val="tx1"/>
                </a:solidFill>
              </a:rPr>
              <a:t>ERA5, SoilGrids and DEM for the point, with caching and retries</a:t>
            </a:r>
            <a:endParaRPr lang="en-US" sz="1500" dirty="0"/>
          </a:p>
        </p:txBody>
      </p:sp>
      <p:sp>
        <p:nvSpPr>
          <p:cNvPr id="8" name="step 2 circle"/>
          <p:cNvSpPr/>
          <p:nvPr/>
        </p:nvSpPr>
        <p:spPr>
          <a:xfrm>
            <a:off x="3322244" y="1600200"/>
            <a:ext cx="1005840" cy="1005840"/>
          </a:xfrm>
          <a:prstGeom prst="ellipse">
            <a:avLst/>
          </a:prstGeom>
          <a:solidFill>
            <a:schemeClr val="accent1"/>
          </a:solidFill>
          <a:ln/>
        </p:spPr>
      </p:sp>
      <p:sp>
        <p:nvSpPr>
          <p:cNvPr id="9" name="step 2 number"/>
          <p:cNvSpPr txBox="1"/>
          <p:nvPr/>
        </p:nvSpPr>
        <p:spPr>
          <a:xfrm>
            <a:off x="3322244" y="1600200"/>
            <a:ext cx="1005840" cy="1005840"/>
          </a:xfrm>
          <a:prstGeom prst="rect">
            <a:avLst/>
          </a:prstGeom>
          <a:noFill/>
          <a:ln/>
        </p:spPr>
        <p:txBody>
          <a:bodyPr wrap="square" lIns="0" tIns="0" rIns="0" bIns="0" rtlCol="0" anchor="ctr"/>
          <a:lstStyle/>
          <a:p>
            <a:pPr algn="ctr" indent="0" marL="0">
              <a:buNone/>
            </a:pPr>
            <a:r>
              <a:rPr lang="en-US" sz="3200" b="1" dirty="0">
                <a:solidFill>
                  <a:schemeClr val="bg1"/>
                </a:solidFill>
              </a:rPr>
              <a:t>2</a:t>
            </a:r>
            <a:endParaRPr lang="en-US" sz="3200" dirty="0"/>
          </a:p>
        </p:txBody>
      </p:sp>
      <p:sp>
        <p:nvSpPr>
          <p:cNvPr id="10" name="arrow 2"/>
          <p:cNvSpPr/>
          <p:nvPr/>
        </p:nvSpPr>
        <p:spPr>
          <a:xfrm>
            <a:off x="4465244" y="2103120"/>
            <a:ext cx="990524" cy="0"/>
          </a:xfrm>
          <a:prstGeom prst="line">
            <a:avLst/>
          </a:prstGeom>
          <a:noFill/>
          <a:ln w="25400">
            <a:solidFill>
              <a:schemeClr val="accent6"/>
            </a:solidFill>
            <a:prstDash val="solid"/>
            <a:tailEnd type="triangle"/>
          </a:ln>
        </p:spPr>
      </p:sp>
      <p:sp>
        <p:nvSpPr>
          <p:cNvPr id="11" name="step 2 title"/>
          <p:cNvSpPr txBox="1"/>
          <p:nvPr/>
        </p:nvSpPr>
        <p:spPr>
          <a:xfrm>
            <a:off x="2819324" y="2788920"/>
            <a:ext cx="2011680" cy="502920"/>
          </a:xfrm>
          <a:prstGeom prst="rect">
            <a:avLst/>
          </a:prstGeom>
          <a:noFill/>
          <a:ln/>
        </p:spPr>
        <p:txBody>
          <a:bodyPr wrap="square" lIns="0" tIns="0" rIns="0" bIns="0" rtlCol="0" anchor="ctr"/>
          <a:lstStyle/>
          <a:p>
            <a:pPr algn="ctr" indent="0" marL="0">
              <a:buNone/>
            </a:pPr>
            <a:r>
              <a:rPr lang="en-US" sz="2100" b="1" dirty="0">
                <a:solidFill>
                  <a:schemeClr val="tx2"/>
                </a:solidFill>
                <a:latin typeface="Cambria" pitchFamily="34" charset="0"/>
                <a:ea typeface="Cambria" pitchFamily="34" charset="-122"/>
                <a:cs typeface="Cambria" pitchFamily="34" charset="-120"/>
              </a:rPr>
              <a:t>Engineer</a:t>
            </a:r>
            <a:endParaRPr lang="en-US" sz="2100" dirty="0"/>
          </a:p>
        </p:txBody>
      </p:sp>
      <p:sp>
        <p:nvSpPr>
          <p:cNvPr id="12" name="step 2 text"/>
          <p:cNvSpPr txBox="1"/>
          <p:nvPr/>
        </p:nvSpPr>
        <p:spPr>
          <a:xfrm>
            <a:off x="2819324" y="3337560"/>
            <a:ext cx="2011680" cy="1280160"/>
          </a:xfrm>
          <a:prstGeom prst="rect">
            <a:avLst/>
          </a:prstGeom>
          <a:noFill/>
          <a:ln/>
        </p:spPr>
        <p:txBody>
          <a:bodyPr wrap="square" lIns="0" tIns="0" rIns="0" bIns="0" rtlCol="0" anchor="t"/>
          <a:lstStyle/>
          <a:p>
            <a:pPr algn="ctr" indent="0" marL="0">
              <a:buNone/>
            </a:pPr>
            <a:r>
              <a:rPr lang="en-US" sz="1500" dirty="0">
                <a:solidFill>
                  <a:schemeClr val="tx1"/>
                </a:solidFill>
              </a:rPr>
              <a:t>Monthly climatology, ET₀, aridity index, dry months, GDD</a:t>
            </a:r>
            <a:endParaRPr lang="en-US" sz="1500" dirty="0"/>
          </a:p>
        </p:txBody>
      </p:sp>
      <p:sp>
        <p:nvSpPr>
          <p:cNvPr id="13" name="step 3 circle"/>
          <p:cNvSpPr/>
          <p:nvPr/>
        </p:nvSpPr>
        <p:spPr>
          <a:xfrm>
            <a:off x="5592928" y="1600200"/>
            <a:ext cx="1005840" cy="1005840"/>
          </a:xfrm>
          <a:prstGeom prst="ellipse">
            <a:avLst/>
          </a:prstGeom>
          <a:solidFill>
            <a:schemeClr val="accent1"/>
          </a:solidFill>
          <a:ln/>
        </p:spPr>
      </p:sp>
      <p:sp>
        <p:nvSpPr>
          <p:cNvPr id="14" name="step 3 number"/>
          <p:cNvSpPr txBox="1"/>
          <p:nvPr/>
        </p:nvSpPr>
        <p:spPr>
          <a:xfrm>
            <a:off x="5592928" y="1600200"/>
            <a:ext cx="1005840" cy="1005840"/>
          </a:xfrm>
          <a:prstGeom prst="rect">
            <a:avLst/>
          </a:prstGeom>
          <a:noFill/>
          <a:ln/>
        </p:spPr>
        <p:txBody>
          <a:bodyPr wrap="square" lIns="0" tIns="0" rIns="0" bIns="0" rtlCol="0" anchor="ctr"/>
          <a:lstStyle/>
          <a:p>
            <a:pPr algn="ctr" indent="0" marL="0">
              <a:buNone/>
            </a:pPr>
            <a:r>
              <a:rPr lang="en-US" sz="3200" b="1" dirty="0">
                <a:solidFill>
                  <a:schemeClr val="bg1"/>
                </a:solidFill>
              </a:rPr>
              <a:t>3</a:t>
            </a:r>
            <a:endParaRPr lang="en-US" sz="3200" dirty="0"/>
          </a:p>
        </p:txBody>
      </p:sp>
      <p:sp>
        <p:nvSpPr>
          <p:cNvPr id="15" name="arrow 3"/>
          <p:cNvSpPr/>
          <p:nvPr/>
        </p:nvSpPr>
        <p:spPr>
          <a:xfrm>
            <a:off x="6735928" y="2103120"/>
            <a:ext cx="990524" cy="0"/>
          </a:xfrm>
          <a:prstGeom prst="line">
            <a:avLst/>
          </a:prstGeom>
          <a:noFill/>
          <a:ln w="25400">
            <a:solidFill>
              <a:schemeClr val="accent6"/>
            </a:solidFill>
            <a:prstDash val="solid"/>
            <a:tailEnd type="triangle"/>
          </a:ln>
        </p:spPr>
      </p:sp>
      <p:sp>
        <p:nvSpPr>
          <p:cNvPr id="16" name="step 3 title"/>
          <p:cNvSpPr txBox="1"/>
          <p:nvPr/>
        </p:nvSpPr>
        <p:spPr>
          <a:xfrm>
            <a:off x="5090008" y="2788920"/>
            <a:ext cx="2011680" cy="502920"/>
          </a:xfrm>
          <a:prstGeom prst="rect">
            <a:avLst/>
          </a:prstGeom>
          <a:noFill/>
          <a:ln/>
        </p:spPr>
        <p:txBody>
          <a:bodyPr wrap="square" lIns="0" tIns="0" rIns="0" bIns="0" rtlCol="0" anchor="ctr"/>
          <a:lstStyle/>
          <a:p>
            <a:pPr algn="ctr" indent="0" marL="0">
              <a:buNone/>
            </a:pPr>
            <a:r>
              <a:rPr lang="en-US" sz="2100" b="1" dirty="0">
                <a:solidFill>
                  <a:schemeClr val="tx2"/>
                </a:solidFill>
                <a:latin typeface="Cambria" pitchFamily="34" charset="0"/>
                <a:ea typeface="Cambria" pitchFamily="34" charset="-122"/>
                <a:cs typeface="Cambria" pitchFamily="34" charset="-120"/>
              </a:rPr>
              <a:t>Score</a:t>
            </a:r>
            <a:endParaRPr lang="en-US" sz="2100" dirty="0"/>
          </a:p>
        </p:txBody>
      </p:sp>
      <p:sp>
        <p:nvSpPr>
          <p:cNvPr id="17" name="step 3 text"/>
          <p:cNvSpPr txBox="1"/>
          <p:nvPr/>
        </p:nvSpPr>
        <p:spPr>
          <a:xfrm>
            <a:off x="5090008" y="3337560"/>
            <a:ext cx="2011680" cy="1280160"/>
          </a:xfrm>
          <a:prstGeom prst="rect">
            <a:avLst/>
          </a:prstGeom>
          <a:noFill/>
          <a:ln/>
        </p:spPr>
        <p:txBody>
          <a:bodyPr wrap="square" lIns="0" tIns="0" rIns="0" bIns="0" rtlCol="0" anchor="t"/>
          <a:lstStyle/>
          <a:p>
            <a:pPr algn="ctr" indent="0" marL="0">
              <a:buNone/>
            </a:pPr>
            <a:r>
              <a:rPr lang="en-US" sz="1500" dirty="0">
                <a:solidFill>
                  <a:schemeClr val="tx1"/>
                </a:solidFill>
              </a:rPr>
              <a:t>Fuzzy membership of each factor against the crop's trapezoid</a:t>
            </a:r>
            <a:endParaRPr lang="en-US" sz="1500" dirty="0"/>
          </a:p>
        </p:txBody>
      </p:sp>
      <p:sp>
        <p:nvSpPr>
          <p:cNvPr id="18" name="step 4 circle"/>
          <p:cNvSpPr/>
          <p:nvPr/>
        </p:nvSpPr>
        <p:spPr>
          <a:xfrm>
            <a:off x="7863611" y="1600200"/>
            <a:ext cx="1005840" cy="1005840"/>
          </a:xfrm>
          <a:prstGeom prst="ellipse">
            <a:avLst/>
          </a:prstGeom>
          <a:solidFill>
            <a:schemeClr val="accent1"/>
          </a:solidFill>
          <a:ln/>
        </p:spPr>
      </p:sp>
      <p:sp>
        <p:nvSpPr>
          <p:cNvPr id="19" name="step 4 number"/>
          <p:cNvSpPr txBox="1"/>
          <p:nvPr/>
        </p:nvSpPr>
        <p:spPr>
          <a:xfrm>
            <a:off x="7863611" y="1600200"/>
            <a:ext cx="1005840" cy="1005840"/>
          </a:xfrm>
          <a:prstGeom prst="rect">
            <a:avLst/>
          </a:prstGeom>
          <a:noFill/>
          <a:ln/>
        </p:spPr>
        <p:txBody>
          <a:bodyPr wrap="square" lIns="0" tIns="0" rIns="0" bIns="0" rtlCol="0" anchor="ctr"/>
          <a:lstStyle/>
          <a:p>
            <a:pPr algn="ctr" indent="0" marL="0">
              <a:buNone/>
            </a:pPr>
            <a:r>
              <a:rPr lang="en-US" sz="3200" b="1" dirty="0">
                <a:solidFill>
                  <a:schemeClr val="bg1"/>
                </a:solidFill>
              </a:rPr>
              <a:t>4</a:t>
            </a:r>
            <a:endParaRPr lang="en-US" sz="3200" dirty="0"/>
          </a:p>
        </p:txBody>
      </p:sp>
      <p:sp>
        <p:nvSpPr>
          <p:cNvPr id="20" name="arrow 4"/>
          <p:cNvSpPr/>
          <p:nvPr/>
        </p:nvSpPr>
        <p:spPr>
          <a:xfrm>
            <a:off x="9006611" y="2103120"/>
            <a:ext cx="990524" cy="0"/>
          </a:xfrm>
          <a:prstGeom prst="line">
            <a:avLst/>
          </a:prstGeom>
          <a:noFill/>
          <a:ln w="25400">
            <a:solidFill>
              <a:schemeClr val="accent6"/>
            </a:solidFill>
            <a:prstDash val="solid"/>
            <a:tailEnd type="triangle"/>
          </a:ln>
        </p:spPr>
      </p:sp>
      <p:sp>
        <p:nvSpPr>
          <p:cNvPr id="21" name="step 4 title"/>
          <p:cNvSpPr txBox="1"/>
          <p:nvPr/>
        </p:nvSpPr>
        <p:spPr>
          <a:xfrm>
            <a:off x="7360691" y="2788920"/>
            <a:ext cx="2011680" cy="502920"/>
          </a:xfrm>
          <a:prstGeom prst="rect">
            <a:avLst/>
          </a:prstGeom>
          <a:noFill/>
          <a:ln/>
        </p:spPr>
        <p:txBody>
          <a:bodyPr wrap="square" lIns="0" tIns="0" rIns="0" bIns="0" rtlCol="0" anchor="ctr"/>
          <a:lstStyle/>
          <a:p>
            <a:pPr algn="ctr" indent="0" marL="0">
              <a:buNone/>
            </a:pPr>
            <a:r>
              <a:rPr lang="en-US" sz="2100" b="1" dirty="0">
                <a:solidFill>
                  <a:schemeClr val="tx2"/>
                </a:solidFill>
                <a:latin typeface="Cambria" pitchFamily="34" charset="0"/>
                <a:ea typeface="Cambria" pitchFamily="34" charset="-122"/>
                <a:cs typeface="Cambria" pitchFamily="34" charset="-120"/>
              </a:rPr>
              <a:t>Aggregate</a:t>
            </a:r>
            <a:endParaRPr lang="en-US" sz="2100" dirty="0"/>
          </a:p>
        </p:txBody>
      </p:sp>
      <p:sp>
        <p:nvSpPr>
          <p:cNvPr id="22" name="step 4 text"/>
          <p:cNvSpPr txBox="1"/>
          <p:nvPr/>
        </p:nvSpPr>
        <p:spPr>
          <a:xfrm>
            <a:off x="7360691" y="3337560"/>
            <a:ext cx="2011680" cy="1280160"/>
          </a:xfrm>
          <a:prstGeom prst="rect">
            <a:avLst/>
          </a:prstGeom>
          <a:noFill/>
          <a:ln/>
        </p:spPr>
        <p:txBody>
          <a:bodyPr wrap="square" lIns="0" tIns="0" rIns="0" bIns="0" rtlCol="0" anchor="t"/>
          <a:lstStyle/>
          <a:p>
            <a:pPr algn="ctr" indent="0" marL="0">
              <a:buNone/>
            </a:pPr>
            <a:r>
              <a:rPr lang="en-US" sz="1500" dirty="0">
                <a:solidFill>
                  <a:schemeClr val="tx1"/>
                </a:solidFill>
              </a:rPr>
              <a:t>Weighted geometric mean with a centrality bonus gives S</a:t>
            </a:r>
            <a:endParaRPr lang="en-US" sz="1500" dirty="0"/>
          </a:p>
        </p:txBody>
      </p:sp>
      <p:sp>
        <p:nvSpPr>
          <p:cNvPr id="23" name="step 5 circle"/>
          <p:cNvSpPr/>
          <p:nvPr/>
        </p:nvSpPr>
        <p:spPr>
          <a:xfrm>
            <a:off x="10134295" y="1600200"/>
            <a:ext cx="1005840" cy="1005840"/>
          </a:xfrm>
          <a:prstGeom prst="ellipse">
            <a:avLst/>
          </a:prstGeom>
          <a:solidFill>
            <a:schemeClr val="accent2"/>
          </a:solidFill>
          <a:ln/>
        </p:spPr>
      </p:sp>
      <p:sp>
        <p:nvSpPr>
          <p:cNvPr id="24" name="step 5 number"/>
          <p:cNvSpPr txBox="1"/>
          <p:nvPr/>
        </p:nvSpPr>
        <p:spPr>
          <a:xfrm>
            <a:off x="10134295" y="1600200"/>
            <a:ext cx="1005840" cy="1005840"/>
          </a:xfrm>
          <a:prstGeom prst="rect">
            <a:avLst/>
          </a:prstGeom>
          <a:noFill/>
          <a:ln/>
        </p:spPr>
        <p:txBody>
          <a:bodyPr wrap="square" lIns="0" tIns="0" rIns="0" bIns="0" rtlCol="0" anchor="ctr"/>
          <a:lstStyle/>
          <a:p>
            <a:pPr algn="ctr" indent="0" marL="0">
              <a:buNone/>
            </a:pPr>
            <a:r>
              <a:rPr lang="en-US" sz="3200" b="1" dirty="0">
                <a:solidFill>
                  <a:schemeClr val="tx2"/>
                </a:solidFill>
              </a:rPr>
              <a:t>5</a:t>
            </a:r>
            <a:endParaRPr lang="en-US" sz="3200" dirty="0"/>
          </a:p>
        </p:txBody>
      </p:sp>
      <p:sp>
        <p:nvSpPr>
          <p:cNvPr id="25" name="step 5 title"/>
          <p:cNvSpPr txBox="1"/>
          <p:nvPr/>
        </p:nvSpPr>
        <p:spPr>
          <a:xfrm>
            <a:off x="9631375" y="2788920"/>
            <a:ext cx="2011680" cy="502920"/>
          </a:xfrm>
          <a:prstGeom prst="rect">
            <a:avLst/>
          </a:prstGeom>
          <a:noFill/>
          <a:ln/>
        </p:spPr>
        <p:txBody>
          <a:bodyPr wrap="square" lIns="0" tIns="0" rIns="0" bIns="0" rtlCol="0" anchor="ctr"/>
          <a:lstStyle/>
          <a:p>
            <a:pPr algn="ctr" indent="0" marL="0">
              <a:buNone/>
            </a:pPr>
            <a:r>
              <a:rPr lang="en-US" sz="2100" b="1" dirty="0">
                <a:solidFill>
                  <a:schemeClr val="tx2"/>
                </a:solidFill>
                <a:latin typeface="Cambria" pitchFamily="34" charset="0"/>
                <a:ea typeface="Cambria" pitchFamily="34" charset="-122"/>
                <a:cs typeface="Cambria" pitchFamily="34" charset="-120"/>
              </a:rPr>
              <a:t>Explain</a:t>
            </a:r>
            <a:endParaRPr lang="en-US" sz="2100" dirty="0"/>
          </a:p>
        </p:txBody>
      </p:sp>
      <p:sp>
        <p:nvSpPr>
          <p:cNvPr id="26" name="step 5 text"/>
          <p:cNvSpPr txBox="1"/>
          <p:nvPr/>
        </p:nvSpPr>
        <p:spPr>
          <a:xfrm>
            <a:off x="9631375" y="3337560"/>
            <a:ext cx="2011680" cy="1280160"/>
          </a:xfrm>
          <a:prstGeom prst="rect">
            <a:avLst/>
          </a:prstGeom>
          <a:noFill/>
          <a:ln/>
        </p:spPr>
        <p:txBody>
          <a:bodyPr wrap="square" lIns="0" tIns="0" rIns="0" bIns="0" rtlCol="0" anchor="t"/>
          <a:lstStyle/>
          <a:p>
            <a:pPr algn="ctr" indent="0" marL="0">
              <a:buNone/>
            </a:pPr>
            <a:r>
              <a:rPr lang="en-US" sz="1500" dirty="0">
                <a:solidFill>
                  <a:schemeClr val="tx1"/>
                </a:solidFill>
              </a:rPr>
              <a:t>FAO class, limiting factor and management advice</a:t>
            </a:r>
            <a:endParaRPr lang="en-US" sz="1500" dirty="0"/>
          </a:p>
        </p:txBody>
      </p:sp>
      <p:sp>
        <p:nvSpPr>
          <p:cNvPr id="27" name="outputs band"/>
          <p:cNvSpPr/>
          <p:nvPr/>
        </p:nvSpPr>
        <p:spPr>
          <a:xfrm>
            <a:off x="548640" y="4892040"/>
            <a:ext cx="11094415" cy="1051560"/>
          </a:xfrm>
          <a:prstGeom prst="roundRect">
            <a:avLst>
              <a:gd name="adj" fmla="val 10435"/>
            </a:avLst>
          </a:prstGeom>
          <a:solidFill>
            <a:schemeClr val="bg2"/>
          </a:solidFill>
          <a:ln/>
        </p:spPr>
      </p:sp>
      <p:sp>
        <p:nvSpPr>
          <p:cNvPr id="28" name="outputs label"/>
          <p:cNvSpPr txBox="1"/>
          <p:nvPr/>
        </p:nvSpPr>
        <p:spPr>
          <a:xfrm>
            <a:off x="868680" y="4892040"/>
            <a:ext cx="2194560" cy="1051560"/>
          </a:xfrm>
          <a:prstGeom prst="rect">
            <a:avLst/>
          </a:prstGeom>
          <a:noFill/>
          <a:ln/>
        </p:spPr>
        <p:txBody>
          <a:bodyPr wrap="square" lIns="0" tIns="0" rIns="0" bIns="0" rtlCol="0" anchor="ctr"/>
          <a:lstStyle/>
          <a:p>
            <a:pPr indent="0" marL="0">
              <a:buNone/>
            </a:pPr>
            <a:r>
              <a:rPr lang="en-US" sz="1600" b="1" dirty="0">
                <a:solidFill>
                  <a:schemeClr val="tx2"/>
                </a:solidFill>
              </a:rPr>
              <a:t>Delivered through</a:t>
            </a:r>
            <a:endParaRPr lang="en-US" sz="1600" dirty="0"/>
          </a:p>
        </p:txBody>
      </p:sp>
      <p:pic>
        <p:nvPicPr>
          <p:cNvPr id="29" name="output 1 icon" descr="Streamlit dashboard">    </p:cNvPr>
          <p:cNvPicPr>
            <a:picLocks noChangeAspect="1"/>
          </p:cNvPicPr>
          <p:nvPr/>
        </p:nvPicPr>
        <p:blipFill>
          <a:blip r:embed="rId1"/>
          <a:stretch>
            <a:fillRect/>
          </a:stretch>
        </p:blipFill>
        <p:spPr>
          <a:xfrm>
            <a:off x="3108960" y="5193792"/>
            <a:ext cx="438912" cy="438912"/>
          </a:xfrm>
          <a:prstGeom prst="rect">
            <a:avLst/>
          </a:prstGeom>
        </p:spPr>
      </p:pic>
      <p:sp>
        <p:nvSpPr>
          <p:cNvPr id="30" name="output 1"/>
          <p:cNvSpPr txBox="1"/>
          <p:nvPr/>
        </p:nvSpPr>
        <p:spPr>
          <a:xfrm>
            <a:off x="3657600" y="5120640"/>
            <a:ext cx="2194560" cy="594360"/>
          </a:xfrm>
          <a:prstGeom prst="rect">
            <a:avLst/>
          </a:prstGeom>
          <a:noFill/>
          <a:ln/>
        </p:spPr>
        <p:txBody>
          <a:bodyPr wrap="square" lIns="0" tIns="0" rIns="0" bIns="0" rtlCol="0" anchor="ctr"/>
          <a:lstStyle/>
          <a:p>
            <a:pPr indent="0" marL="0">
              <a:buNone/>
            </a:pPr>
            <a:r>
              <a:rPr lang="en-US" sz="1500" dirty="0">
                <a:solidFill>
                  <a:schemeClr val="tx1"/>
                </a:solidFill>
              </a:rPr>
              <a:t>Streamlit dashboard</a:t>
            </a:r>
            <a:endParaRPr lang="en-US" sz="1500" dirty="0"/>
          </a:p>
        </p:txBody>
      </p:sp>
      <p:pic>
        <p:nvPicPr>
          <p:cNvPr id="31" name="output 2 icon" descr="Command-line tool">    </p:cNvPr>
          <p:cNvPicPr>
            <a:picLocks noChangeAspect="1"/>
          </p:cNvPicPr>
          <p:nvPr/>
        </p:nvPicPr>
        <p:blipFill>
          <a:blip r:embed="rId2"/>
          <a:stretch>
            <a:fillRect/>
          </a:stretch>
        </p:blipFill>
        <p:spPr>
          <a:xfrm>
            <a:off x="5943600" y="5193792"/>
            <a:ext cx="438912" cy="438912"/>
          </a:xfrm>
          <a:prstGeom prst="rect">
            <a:avLst/>
          </a:prstGeom>
        </p:spPr>
      </p:pic>
      <p:sp>
        <p:nvSpPr>
          <p:cNvPr id="32" name="output 2"/>
          <p:cNvSpPr txBox="1"/>
          <p:nvPr/>
        </p:nvSpPr>
        <p:spPr>
          <a:xfrm>
            <a:off x="6492240" y="5120640"/>
            <a:ext cx="2194560" cy="594360"/>
          </a:xfrm>
          <a:prstGeom prst="rect">
            <a:avLst/>
          </a:prstGeom>
          <a:noFill/>
          <a:ln/>
        </p:spPr>
        <p:txBody>
          <a:bodyPr wrap="square" lIns="0" tIns="0" rIns="0" bIns="0" rtlCol="0" anchor="ctr"/>
          <a:lstStyle/>
          <a:p>
            <a:pPr indent="0" marL="0">
              <a:buNone/>
            </a:pPr>
            <a:r>
              <a:rPr lang="en-US" sz="1500" dirty="0">
                <a:solidFill>
                  <a:schemeClr val="tx1"/>
                </a:solidFill>
              </a:rPr>
              <a:t>Command-line tool</a:t>
            </a:r>
            <a:endParaRPr lang="en-US" sz="1500" dirty="0"/>
          </a:p>
        </p:txBody>
      </p:sp>
      <p:pic>
        <p:nvPicPr>
          <p:cNvPr id="33" name="output 3 icon" descr="GIS-ready exports">    </p:cNvPr>
          <p:cNvPicPr>
            <a:picLocks noChangeAspect="1"/>
          </p:cNvPicPr>
          <p:nvPr/>
        </p:nvPicPr>
        <p:blipFill>
          <a:blip r:embed="rId3"/>
          <a:stretch>
            <a:fillRect/>
          </a:stretch>
        </p:blipFill>
        <p:spPr>
          <a:xfrm>
            <a:off x="8778240" y="5193792"/>
            <a:ext cx="438912" cy="438912"/>
          </a:xfrm>
          <a:prstGeom prst="rect">
            <a:avLst/>
          </a:prstGeom>
        </p:spPr>
      </p:pic>
      <p:sp>
        <p:nvSpPr>
          <p:cNvPr id="34" name="output 3"/>
          <p:cNvSpPr txBox="1"/>
          <p:nvPr/>
        </p:nvSpPr>
        <p:spPr>
          <a:xfrm>
            <a:off x="9326880" y="5120640"/>
            <a:ext cx="2194560" cy="594360"/>
          </a:xfrm>
          <a:prstGeom prst="rect">
            <a:avLst/>
          </a:prstGeom>
          <a:noFill/>
          <a:ln/>
        </p:spPr>
        <p:txBody>
          <a:bodyPr wrap="square" lIns="0" tIns="0" rIns="0" bIns="0" rtlCol="0" anchor="ctr"/>
          <a:lstStyle/>
          <a:p>
            <a:pPr indent="0" marL="0">
              <a:buNone/>
            </a:pPr>
            <a:r>
              <a:rPr lang="en-US" sz="1500" dirty="0">
                <a:solidFill>
                  <a:schemeClr val="tx1"/>
                </a:solidFill>
              </a:rPr>
              <a:t>GIS-ready exports</a:t>
            </a:r>
            <a:endParaRPr lang="en-US" sz="1500" dirty="0"/>
          </a:p>
        </p:txBody>
      </p:sp>
      <p:sp>
        <p:nvSpPr>
          <p:cNvPr id="25" name="Slide Number Placeholder 0"/>
          <p:cNvSpPr>
            <a:spLocks noGrp="1"/>
          </p:cNvSpPr>
          <p:nvPr>
            <p:ph type="sldNum" sz="quarter" idx="4294967295"/>
          </p:nvPr>
        </p:nvSpPr>
        <p:spPr>
          <a:xfrm>
            <a:off x="1109441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Fuzzy membership replaces brittle thresholds</a:t>
            </a:r>
            <a:endParaRPr lang="en-US" sz="3200" dirty="0"/>
          </a:p>
        </p:txBody>
      </p:sp>
      <p:graphicFrame>
        <p:nvGraphicFramePr>
          <p:cNvPr id="3" name="trapezoid chart" descr=""/>
          <p:cNvGraphicFramePr/>
          <p:nvPr/>
        </p:nvGraphicFramePr>
        <p:xfrm>
          <a:off x="548640" y="1371600"/>
          <a:ext cx="6766560" cy="4480560"/>
        </p:xfrm>
        <a:graphic xmlns:a="http://schemas.openxmlformats.org/drawingml/2006/main">
          <a:graphicData uri="http://schemas.openxmlformats.org/drawingml/2006/chart">
            <c:chart xmlns:c="http://schemas.openxmlformats.org/drawingml/2006/chart" r:id="rId1"/>
          </a:graphicData>
        </a:graphic>
      </p:graphicFrame>
      <p:sp>
        <p:nvSpPr>
          <p:cNvPr id="4" name="rule 1 badge"/>
          <p:cNvSpPr/>
          <p:nvPr/>
        </p:nvSpPr>
        <p:spPr>
          <a:xfrm>
            <a:off x="7680960" y="1508760"/>
            <a:ext cx="822960" cy="822960"/>
          </a:xfrm>
          <a:prstGeom prst="ellipse">
            <a:avLst/>
          </a:prstGeom>
          <a:solidFill>
            <a:schemeClr val="bg2"/>
          </a:solidFill>
          <a:ln w="19050">
            <a:solidFill>
              <a:schemeClr val="accent1"/>
            </a:solidFill>
            <a:prstDash val="solid"/>
          </a:ln>
        </p:spPr>
      </p:sp>
      <p:sp>
        <p:nvSpPr>
          <p:cNvPr id="5" name="rule 1 value"/>
          <p:cNvSpPr txBox="1"/>
          <p:nvPr/>
        </p:nvSpPr>
        <p:spPr>
          <a:xfrm>
            <a:off x="7680960" y="1508760"/>
            <a:ext cx="822960" cy="822960"/>
          </a:xfrm>
          <a:prstGeom prst="rect">
            <a:avLst/>
          </a:prstGeom>
          <a:noFill/>
          <a:ln/>
        </p:spPr>
        <p:txBody>
          <a:bodyPr wrap="square" lIns="0" tIns="0" rIns="0" bIns="0" rtlCol="0" anchor="ctr"/>
          <a:lstStyle/>
          <a:p>
            <a:pPr algn="ctr" indent="0" marL="0">
              <a:buNone/>
            </a:pPr>
            <a:r>
              <a:rPr lang="en-US" sz="1600" b="1" dirty="0">
                <a:solidFill>
                  <a:schemeClr val="accent1"/>
                </a:solidFill>
              </a:rPr>
              <a:t>0</a:t>
            </a:r>
            <a:endParaRPr lang="en-US" sz="1600" dirty="0"/>
          </a:p>
        </p:txBody>
      </p:sp>
      <p:sp>
        <p:nvSpPr>
          <p:cNvPr id="6" name="rule 1 text"/>
          <p:cNvSpPr txBox="1"/>
          <p:nvPr/>
        </p:nvSpPr>
        <p:spPr>
          <a:xfrm>
            <a:off x="8686800" y="1463040"/>
            <a:ext cx="2971800" cy="914400"/>
          </a:xfrm>
          <a:prstGeom prst="rect">
            <a:avLst/>
          </a:prstGeom>
          <a:noFill/>
          <a:ln/>
        </p:spPr>
        <p:txBody>
          <a:bodyPr wrap="square" lIns="0" tIns="0" rIns="0" bIns="0" rtlCol="0" anchor="ctr"/>
          <a:lstStyle/>
          <a:p>
            <a:pPr indent="0" marL="0">
              <a:buNone/>
            </a:pPr>
            <a:r>
              <a:rPr lang="en-US" sz="1500" dirty="0">
                <a:solidFill>
                  <a:schemeClr val="tx1"/>
                </a:solidFill>
              </a:rPr>
              <a:t>outside the absolute limits: the crop fails (below 250 or above 1100 mm)</a:t>
            </a:r>
            <a:endParaRPr lang="en-US" sz="1500" dirty="0"/>
          </a:p>
        </p:txBody>
      </p:sp>
      <p:sp>
        <p:nvSpPr>
          <p:cNvPr id="7" name="rule 2 badge"/>
          <p:cNvSpPr/>
          <p:nvPr/>
        </p:nvSpPr>
        <p:spPr>
          <a:xfrm>
            <a:off x="7680960" y="2651760"/>
            <a:ext cx="822960" cy="822960"/>
          </a:xfrm>
          <a:prstGeom prst="ellipse">
            <a:avLst/>
          </a:prstGeom>
          <a:solidFill>
            <a:schemeClr val="bg2"/>
          </a:solidFill>
          <a:ln w="19050">
            <a:solidFill>
              <a:schemeClr val="accent1"/>
            </a:solidFill>
            <a:prstDash val="solid"/>
          </a:ln>
        </p:spPr>
      </p:sp>
      <p:sp>
        <p:nvSpPr>
          <p:cNvPr id="8" name="rule 2 value"/>
          <p:cNvSpPr txBox="1"/>
          <p:nvPr/>
        </p:nvSpPr>
        <p:spPr>
          <a:xfrm>
            <a:off x="7680960" y="2651760"/>
            <a:ext cx="822960" cy="822960"/>
          </a:xfrm>
          <a:prstGeom prst="rect">
            <a:avLst/>
          </a:prstGeom>
          <a:noFill/>
          <a:ln/>
        </p:spPr>
        <p:txBody>
          <a:bodyPr wrap="square" lIns="0" tIns="0" rIns="0" bIns="0" rtlCol="0" anchor="ctr"/>
          <a:lstStyle/>
          <a:p>
            <a:pPr algn="ctr" indent="0" marL="0">
              <a:buNone/>
            </a:pPr>
            <a:r>
              <a:rPr lang="en-US" sz="1600" b="1" dirty="0">
                <a:solidFill>
                  <a:schemeClr val="accent1"/>
                </a:solidFill>
              </a:rPr>
              <a:t>1</a:t>
            </a:r>
            <a:endParaRPr lang="en-US" sz="1600" dirty="0"/>
          </a:p>
        </p:txBody>
      </p:sp>
      <p:sp>
        <p:nvSpPr>
          <p:cNvPr id="9" name="rule 2 text"/>
          <p:cNvSpPr txBox="1"/>
          <p:nvPr/>
        </p:nvSpPr>
        <p:spPr>
          <a:xfrm>
            <a:off x="8686800" y="2606040"/>
            <a:ext cx="2971800" cy="914400"/>
          </a:xfrm>
          <a:prstGeom prst="rect">
            <a:avLst/>
          </a:prstGeom>
          <a:noFill/>
          <a:ln/>
        </p:spPr>
        <p:txBody>
          <a:bodyPr wrap="square" lIns="0" tIns="0" rIns="0" bIns="0" rtlCol="0" anchor="ctr"/>
          <a:lstStyle/>
          <a:p>
            <a:pPr indent="0" marL="0">
              <a:buNone/>
            </a:pPr>
            <a:r>
              <a:rPr lang="en-US" sz="1500" dirty="0">
                <a:solidFill>
                  <a:schemeClr val="tx1"/>
                </a:solidFill>
              </a:rPr>
              <a:t>inside the optimum: the crop thrives (400–700 mm)</a:t>
            </a:r>
            <a:endParaRPr lang="en-US" sz="1500" dirty="0"/>
          </a:p>
        </p:txBody>
      </p:sp>
      <p:sp>
        <p:nvSpPr>
          <p:cNvPr id="10" name="rule 3 badge"/>
          <p:cNvSpPr/>
          <p:nvPr/>
        </p:nvSpPr>
        <p:spPr>
          <a:xfrm>
            <a:off x="7680960" y="3794760"/>
            <a:ext cx="822960" cy="822960"/>
          </a:xfrm>
          <a:prstGeom prst="ellipse">
            <a:avLst/>
          </a:prstGeom>
          <a:solidFill>
            <a:schemeClr val="bg2"/>
          </a:solidFill>
          <a:ln w="19050">
            <a:solidFill>
              <a:schemeClr val="accent1"/>
            </a:solidFill>
            <a:prstDash val="solid"/>
          </a:ln>
        </p:spPr>
      </p:sp>
      <p:sp>
        <p:nvSpPr>
          <p:cNvPr id="11" name="rule 3 value"/>
          <p:cNvSpPr txBox="1"/>
          <p:nvPr/>
        </p:nvSpPr>
        <p:spPr>
          <a:xfrm>
            <a:off x="7680960" y="3794760"/>
            <a:ext cx="822960" cy="822960"/>
          </a:xfrm>
          <a:prstGeom prst="rect">
            <a:avLst/>
          </a:prstGeom>
          <a:noFill/>
          <a:ln/>
        </p:spPr>
        <p:txBody>
          <a:bodyPr wrap="square" lIns="0" tIns="0" rIns="0" bIns="0" rtlCol="0" anchor="ctr"/>
          <a:lstStyle/>
          <a:p>
            <a:pPr algn="ctr" indent="0" marL="0">
              <a:buNone/>
            </a:pPr>
            <a:r>
              <a:rPr lang="en-US" sz="1600" b="1" dirty="0">
                <a:solidFill>
                  <a:schemeClr val="accent1"/>
                </a:solidFill>
              </a:rPr>
              <a:t>0→1</a:t>
            </a:r>
            <a:endParaRPr lang="en-US" sz="1600" dirty="0"/>
          </a:p>
        </p:txBody>
      </p:sp>
      <p:sp>
        <p:nvSpPr>
          <p:cNvPr id="12" name="rule 3 text"/>
          <p:cNvSpPr txBox="1"/>
          <p:nvPr/>
        </p:nvSpPr>
        <p:spPr>
          <a:xfrm>
            <a:off x="8686800" y="3749040"/>
            <a:ext cx="2971800" cy="914400"/>
          </a:xfrm>
          <a:prstGeom prst="rect">
            <a:avLst/>
          </a:prstGeom>
          <a:noFill/>
          <a:ln/>
        </p:spPr>
        <p:txBody>
          <a:bodyPr wrap="square" lIns="0" tIns="0" rIns="0" bIns="0" rtlCol="0" anchor="ctr"/>
          <a:lstStyle/>
          <a:p>
            <a:pPr indent="0" marL="0">
              <a:buNone/>
            </a:pPr>
            <a:r>
              <a:rPr lang="en-US" sz="1500" dirty="0">
                <a:solidFill>
                  <a:schemeClr val="tx1"/>
                </a:solidFill>
              </a:rPr>
              <a:t>linear in between: 330 mm scores 0.53 instead of a hard yes/no</a:t>
            </a:r>
            <a:endParaRPr lang="en-US" sz="1500" dirty="0"/>
          </a:p>
        </p:txBody>
      </p:sp>
      <p:sp>
        <p:nvSpPr>
          <p:cNvPr id="13" name="irrigation note"/>
          <p:cNvSpPr/>
          <p:nvPr/>
        </p:nvSpPr>
        <p:spPr>
          <a:xfrm>
            <a:off x="7680960" y="4937760"/>
            <a:ext cx="3977640" cy="914400"/>
          </a:xfrm>
          <a:prstGeom prst="roundRect">
            <a:avLst>
              <a:gd name="adj" fmla="val 12000"/>
            </a:avLst>
          </a:prstGeom>
          <a:solidFill>
            <a:schemeClr val="bg2"/>
          </a:solidFill>
          <a:ln/>
        </p:spPr>
      </p:sp>
      <p:sp>
        <p:nvSpPr>
          <p:cNvPr id="14" name="irrigation note text"/>
          <p:cNvSpPr txBox="1"/>
          <p:nvPr/>
        </p:nvSpPr>
        <p:spPr>
          <a:xfrm>
            <a:off x="7863840" y="4937760"/>
            <a:ext cx="3657600" cy="914400"/>
          </a:xfrm>
          <a:prstGeom prst="rect">
            <a:avLst/>
          </a:prstGeom>
          <a:noFill/>
          <a:ln/>
        </p:spPr>
        <p:txBody>
          <a:bodyPr wrap="square" lIns="0" tIns="0" rIns="0" bIns="0" rtlCol="0" anchor="ctr"/>
          <a:lstStyle/>
          <a:p>
            <a:pPr indent="0" marL="0">
              <a:buNone/>
            </a:pPr>
            <a:r>
              <a:rPr lang="en-US" sz="1400" dirty="0">
                <a:solidFill>
                  <a:schemeClr val="tx2"/>
                </a:solidFill>
              </a:rPr>
              <a:t>Irrigated scenario: a rain shortage scores 1, but excess rain still counts against the crop.</a:t>
            </a:r>
            <a:endParaRPr lang="en-US" sz="1400" dirty="0"/>
          </a:p>
        </p:txBody>
      </p:sp>
      <p:sp>
        <p:nvSpPr>
          <p:cNvPr id="25" name="Slide Number Placeholder 0"/>
          <p:cNvSpPr>
            <a:spLocks noGrp="1"/>
          </p:cNvSpPr>
          <p:nvPr>
            <p:ph type="sldNum" sz="quarter" idx="4294967295"/>
          </p:nvPr>
        </p:nvSpPr>
        <p:spPr>
          <a:xfrm>
            <a:off x="1109441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One weak factor caps the score: the law of the minimum</a:t>
            </a:r>
            <a:endParaRPr lang="en-US" sz="3200" dirty="0"/>
          </a:p>
        </p:txBody>
      </p:sp>
      <p:graphicFrame>
        <p:nvGraphicFramePr>
          <p:cNvPr id="3" name="citrus factor chart" descr=""/>
          <p:cNvGraphicFramePr/>
          <p:nvPr/>
        </p:nvGraphicFramePr>
        <p:xfrm>
          <a:off x="548640" y="1371600"/>
          <a:ext cx="6766560" cy="4480560"/>
        </p:xfrm>
        <a:graphic xmlns:a="http://schemas.openxmlformats.org/drawingml/2006/main">
          <a:graphicData uri="http://schemas.openxmlformats.org/drawingml/2006/chart">
            <c:chart xmlns:c="http://schemas.openxmlformats.org/drawingml/2006/chart" r:id="rId1"/>
          </a:graphicData>
        </a:graphic>
      </p:graphicFrame>
      <p:sp>
        <p:nvSpPr>
          <p:cNvPr id="4" name="arithmetic mean card"/>
          <p:cNvSpPr/>
          <p:nvPr/>
        </p:nvSpPr>
        <p:spPr>
          <a:xfrm>
            <a:off x="7680960" y="1463040"/>
            <a:ext cx="3977640" cy="1874520"/>
          </a:xfrm>
          <a:prstGeom prst="roundRect">
            <a:avLst>
              <a:gd name="adj" fmla="val 5854"/>
            </a:avLst>
          </a:prstGeom>
          <a:solidFill>
            <a:schemeClr val="bg2"/>
          </a:solidFill>
          <a:ln/>
        </p:spPr>
      </p:sp>
      <p:sp>
        <p:nvSpPr>
          <p:cNvPr id="5" name="arithmetic mean"/>
          <p:cNvSpPr txBox="1"/>
          <p:nvPr/>
        </p:nvSpPr>
        <p:spPr>
          <a:xfrm>
            <a:off x="7909560" y="1554480"/>
            <a:ext cx="3566160" cy="1691640"/>
          </a:xfrm>
          <a:prstGeom prst="rect">
            <a:avLst/>
          </a:prstGeom>
          <a:noFill/>
          <a:ln/>
        </p:spPr>
        <p:txBody>
          <a:bodyPr wrap="square" lIns="0" tIns="0" rIns="0" bIns="0" rtlCol="0" anchor="ctr"/>
          <a:lstStyle/>
          <a:p>
            <a:pPr indent="0" marL="0">
              <a:buNone/>
            </a:pPr>
            <a:r>
              <a:rPr lang="en-US" sz="4800" b="1" dirty="0">
                <a:solidFill>
                  <a:schemeClr val="accent6"/>
                </a:solidFill>
              </a:rPr>
              <a:t>0.83</a:t>
            </a:r>
            <a:endParaRPr lang="en-US" sz="4800" dirty="0"/>
          </a:p>
          <a:p>
            <a:pPr indent="0" marL="0">
              <a:buNone/>
            </a:pPr>
            <a:r>
              <a:rPr lang="en-US" sz="1400" dirty="0">
                <a:solidFill>
                  <a:schemeClr val="tx1"/>
                </a:solidFill>
              </a:rPr>
              <a:t>Simple average → would say S1, hiding a 460 mm water deficit</a:t>
            </a:r>
            <a:endParaRPr lang="en-US" sz="4800" dirty="0"/>
          </a:p>
        </p:txBody>
      </p:sp>
      <p:sp>
        <p:nvSpPr>
          <p:cNvPr id="6" name="agrosuit score card"/>
          <p:cNvSpPr/>
          <p:nvPr/>
        </p:nvSpPr>
        <p:spPr>
          <a:xfrm>
            <a:off x="7680960" y="3520440"/>
            <a:ext cx="3977640" cy="1874520"/>
          </a:xfrm>
          <a:prstGeom prst="roundRect">
            <a:avLst>
              <a:gd name="adj" fmla="val 5854"/>
            </a:avLst>
          </a:prstGeom>
          <a:solidFill>
            <a:schemeClr val="accent1"/>
          </a:solidFill>
          <a:ln/>
        </p:spPr>
      </p:sp>
      <p:sp>
        <p:nvSpPr>
          <p:cNvPr id="7" name="agrosuit score"/>
          <p:cNvSpPr txBox="1"/>
          <p:nvPr/>
        </p:nvSpPr>
        <p:spPr>
          <a:xfrm>
            <a:off x="7909560" y="3611880"/>
            <a:ext cx="3566160" cy="1691640"/>
          </a:xfrm>
          <a:prstGeom prst="rect">
            <a:avLst/>
          </a:prstGeom>
          <a:noFill/>
          <a:ln/>
        </p:spPr>
        <p:txBody>
          <a:bodyPr wrap="square" lIns="0" tIns="0" rIns="0" bIns="0" rtlCol="0" anchor="ctr"/>
          <a:lstStyle/>
          <a:p>
            <a:pPr indent="0" marL="0">
              <a:buNone/>
            </a:pPr>
            <a:r>
              <a:rPr lang="en-US" sz="4800" b="1" dirty="0">
                <a:solidFill>
                  <a:schemeClr val="bg1"/>
                </a:solidFill>
              </a:rPr>
              <a:t>0.69</a:t>
            </a:r>
            <a:endParaRPr lang="en-US" sz="4800" dirty="0"/>
          </a:p>
          <a:p>
            <a:pPr indent="0" marL="0">
              <a:buNone/>
            </a:pPr>
            <a:r>
              <a:rPr lang="en-US" sz="1400" dirty="0">
                <a:solidFill>
                  <a:schemeClr val="bg1"/>
                </a:solidFill>
              </a:rPr>
              <a:t>AgroSuit weighted geometric mean → S2, limited by rainfall</a:t>
            </a:r>
            <a:endParaRPr lang="en-US" sz="4800" dirty="0"/>
          </a:p>
        </p:txBody>
      </p:sp>
      <p:sp>
        <p:nvSpPr>
          <p:cNvPr id="8" name="formula"/>
          <p:cNvSpPr txBox="1"/>
          <p:nvPr/>
        </p:nvSpPr>
        <p:spPr>
          <a:xfrm>
            <a:off x="7680960" y="5532120"/>
            <a:ext cx="3977640" cy="411480"/>
          </a:xfrm>
          <a:prstGeom prst="rect">
            <a:avLst/>
          </a:prstGeom>
          <a:noFill/>
          <a:ln/>
        </p:spPr>
        <p:txBody>
          <a:bodyPr wrap="square" lIns="0" tIns="0" rIns="0" bIns="0" rtlCol="0" anchor="ctr"/>
          <a:lstStyle/>
          <a:p>
            <a:pPr algn="ctr" indent="0" marL="0">
              <a:buNone/>
            </a:pPr>
            <a:r>
              <a:rPr lang="en-US" sz="1400" i="1" dirty="0">
                <a:solidFill>
                  <a:schemeClr val="tx2"/>
                </a:solidFill>
              </a:rPr>
              <a:t>Score = weighted geometric mean × centrality bonus</a:t>
            </a:r>
            <a:endParaRPr lang="en-US" sz="1400" dirty="0"/>
          </a:p>
        </p:txBody>
      </p:sp>
      <p:sp>
        <p:nvSpPr>
          <p:cNvPr id="25" name="Slide Number Placeholder 0"/>
          <p:cNvSpPr>
            <a:spLocks noGrp="1"/>
          </p:cNvSpPr>
          <p:nvPr>
            <p:ph type="sldNum" sz="quarter" idx="4294967295"/>
          </p:nvPr>
        </p:nvSpPr>
        <p:spPr>
          <a:xfrm>
            <a:off x="1109441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Every score comes with its reasons</a:t>
            </a:r>
            <a:endParaRPr lang="en-US" sz="3200" dirty="0"/>
          </a:p>
        </p:txBody>
      </p:sp>
      <p:pic>
        <p:nvPicPr>
          <p:cNvPr id="3" name="Limiting factors screenshot" descr="Limiting factors screenshot">    </p:cNvPr>
          <p:cNvPicPr>
            <a:picLocks noChangeAspect="1"/>
          </p:cNvPicPr>
          <p:nvPr/>
        </p:nvPicPr>
        <p:blipFill>
          <a:blip r:embed="rId1"/>
          <a:stretch>
            <a:fillRect/>
          </a:stretch>
        </p:blipFill>
        <p:spPr>
          <a:xfrm>
            <a:off x="548640" y="1417320"/>
            <a:ext cx="7040880" cy="4400550"/>
          </a:xfrm>
          <a:prstGeom prst="rect">
            <a:avLst/>
          </a:prstGeom>
          <a:effectLst>
            <a:outerShdw sx="100000" sy="100000" kx="0" ky="0" algn="bl" rotWithShape="0" blurRad="101600" dist="38100" dir="5400000">
              <a:srgbClr val="000000">
                <a:alpha val="25000"/>
              </a:srgbClr>
            </a:outerShdw>
          </a:effectLst>
        </p:spPr>
      </p:pic>
      <p:sp>
        <p:nvSpPr>
          <p:cNvPr id="4" name="advice 1 circle"/>
          <p:cNvSpPr/>
          <p:nvPr/>
        </p:nvSpPr>
        <p:spPr>
          <a:xfrm>
            <a:off x="7955280" y="1463040"/>
            <a:ext cx="640080" cy="640080"/>
          </a:xfrm>
          <a:prstGeom prst="ellipse">
            <a:avLst/>
          </a:prstGeom>
          <a:solidFill>
            <a:srgbClr val="EEF5EE"/>
          </a:solidFill>
          <a:ln/>
        </p:spPr>
      </p:sp>
      <p:pic>
        <p:nvPicPr>
          <p:cNvPr id="5" name="advice 1 icon" descr="advice 1">    </p:cNvPr>
          <p:cNvPicPr>
            <a:picLocks noChangeAspect="1"/>
          </p:cNvPicPr>
          <p:nvPr/>
        </p:nvPicPr>
        <p:blipFill>
          <a:blip r:embed="rId2"/>
          <a:stretch>
            <a:fillRect/>
          </a:stretch>
        </p:blipFill>
        <p:spPr>
          <a:xfrm>
            <a:off x="8108899" y="1616659"/>
            <a:ext cx="332842" cy="332842"/>
          </a:xfrm>
          <a:prstGeom prst="rect">
            <a:avLst/>
          </a:prstGeom>
        </p:spPr>
      </p:pic>
      <p:sp>
        <p:nvSpPr>
          <p:cNvPr id="6" name="advice 1 text"/>
          <p:cNvSpPr txBox="1"/>
          <p:nvPr/>
        </p:nvSpPr>
        <p:spPr>
          <a:xfrm>
            <a:off x="8732520" y="1371600"/>
            <a:ext cx="2926080" cy="1280160"/>
          </a:xfrm>
          <a:prstGeom prst="rect">
            <a:avLst/>
          </a:prstGeom>
          <a:noFill/>
          <a:ln/>
        </p:spPr>
        <p:txBody>
          <a:bodyPr wrap="square" lIns="0" tIns="0" rIns="0" bIns="0" rtlCol="0" anchor="t"/>
          <a:lstStyle/>
          <a:p>
            <a:pPr indent="0" marL="0">
              <a:buNone/>
            </a:pPr>
            <a:r>
              <a:rPr lang="en-US" sz="1700" b="1" dirty="0">
                <a:solidFill>
                  <a:schemeClr val="tx2"/>
                </a:solidFill>
              </a:rPr>
              <a:t>Water deficit</a:t>
            </a:r>
            <a:endParaRPr lang="en-US" sz="1700" dirty="0"/>
          </a:p>
          <a:p>
            <a:pPr indent="0" marL="0">
              <a:buNone/>
            </a:pPr>
            <a:r>
              <a:rPr lang="en-US" sz="1400" dirty="0">
                <a:solidFill>
                  <a:schemeClr val="tx1"/>
                </a:solidFill>
              </a:rPr>
              <a:t>“~462 mm/yr short: plan drip irrigation or water harvesting (tabias, jessour)”</a:t>
            </a:r>
            <a:endParaRPr lang="en-US" sz="1700" dirty="0"/>
          </a:p>
        </p:txBody>
      </p:sp>
      <p:sp>
        <p:nvSpPr>
          <p:cNvPr id="7" name="advice 2 circle"/>
          <p:cNvSpPr/>
          <p:nvPr/>
        </p:nvSpPr>
        <p:spPr>
          <a:xfrm>
            <a:off x="7955280" y="2926080"/>
            <a:ext cx="640080" cy="640080"/>
          </a:xfrm>
          <a:prstGeom prst="ellipse">
            <a:avLst/>
          </a:prstGeom>
          <a:solidFill>
            <a:srgbClr val="EEF5EE"/>
          </a:solidFill>
          <a:ln/>
        </p:spPr>
      </p:sp>
      <p:pic>
        <p:nvPicPr>
          <p:cNvPr id="8" name="advice 2 icon" descr="advice 2">    </p:cNvPr>
          <p:cNvPicPr>
            <a:picLocks noChangeAspect="1"/>
          </p:cNvPicPr>
          <p:nvPr/>
        </p:nvPicPr>
        <p:blipFill>
          <a:blip r:embed="rId3"/>
          <a:stretch>
            <a:fillRect/>
          </a:stretch>
        </p:blipFill>
        <p:spPr>
          <a:xfrm>
            <a:off x="8108899" y="3079699"/>
            <a:ext cx="332842" cy="332842"/>
          </a:xfrm>
          <a:prstGeom prst="rect">
            <a:avLst/>
          </a:prstGeom>
        </p:spPr>
      </p:pic>
      <p:sp>
        <p:nvSpPr>
          <p:cNvPr id="9" name="advice 2 text"/>
          <p:cNvSpPr txBox="1"/>
          <p:nvPr/>
        </p:nvSpPr>
        <p:spPr>
          <a:xfrm>
            <a:off x="8732520" y="2834640"/>
            <a:ext cx="2926080" cy="1280160"/>
          </a:xfrm>
          <a:prstGeom prst="rect">
            <a:avLst/>
          </a:prstGeom>
          <a:noFill/>
          <a:ln/>
        </p:spPr>
        <p:txBody>
          <a:bodyPr wrap="square" lIns="0" tIns="0" rIns="0" bIns="0" rtlCol="0" anchor="t"/>
          <a:lstStyle/>
          <a:p>
            <a:pPr indent="0" marL="0">
              <a:buNone/>
            </a:pPr>
            <a:r>
              <a:rPr lang="en-US" sz="1700" b="1" dirty="0">
                <a:solidFill>
                  <a:schemeClr val="tx2"/>
                </a:solidFill>
              </a:rPr>
              <a:t>Heavy clay</a:t>
            </a:r>
            <a:endParaRPr lang="en-US" sz="1700" dirty="0"/>
          </a:p>
          <a:p>
            <a:pPr indent="0" marL="0">
              <a:buNone/>
            </a:pPr>
            <a:r>
              <a:rPr lang="en-US" sz="1400" dirty="0">
                <a:solidFill>
                  <a:schemeClr val="tx1"/>
                </a:solidFill>
              </a:rPr>
              <a:t>“Improve drainage, avoid waterlogging”</a:t>
            </a:r>
            <a:endParaRPr lang="en-US" sz="1700" dirty="0"/>
          </a:p>
        </p:txBody>
      </p:sp>
      <p:sp>
        <p:nvSpPr>
          <p:cNvPr id="10" name="advice 3 circle"/>
          <p:cNvSpPr/>
          <p:nvPr/>
        </p:nvSpPr>
        <p:spPr>
          <a:xfrm>
            <a:off x="7955280" y="4389120"/>
            <a:ext cx="640080" cy="640080"/>
          </a:xfrm>
          <a:prstGeom prst="ellipse">
            <a:avLst/>
          </a:prstGeom>
          <a:solidFill>
            <a:srgbClr val="EEF5EE"/>
          </a:solidFill>
          <a:ln/>
        </p:spPr>
      </p:sp>
      <p:pic>
        <p:nvPicPr>
          <p:cNvPr id="11" name="advice 3 icon" descr="advice 3">    </p:cNvPr>
          <p:cNvPicPr>
            <a:picLocks noChangeAspect="1"/>
          </p:cNvPicPr>
          <p:nvPr/>
        </p:nvPicPr>
        <p:blipFill>
          <a:blip r:embed="rId4"/>
          <a:stretch>
            <a:fillRect/>
          </a:stretch>
        </p:blipFill>
        <p:spPr>
          <a:xfrm>
            <a:off x="8108899" y="4542739"/>
            <a:ext cx="332842" cy="332842"/>
          </a:xfrm>
          <a:prstGeom prst="rect">
            <a:avLst/>
          </a:prstGeom>
        </p:spPr>
      </p:pic>
      <p:sp>
        <p:nvSpPr>
          <p:cNvPr id="12" name="advice 3 text"/>
          <p:cNvSpPr txBox="1"/>
          <p:nvPr/>
        </p:nvSpPr>
        <p:spPr>
          <a:xfrm>
            <a:off x="8732520" y="4297680"/>
            <a:ext cx="2926080" cy="1280160"/>
          </a:xfrm>
          <a:prstGeom prst="rect">
            <a:avLst/>
          </a:prstGeom>
          <a:noFill/>
          <a:ln/>
        </p:spPr>
        <p:txBody>
          <a:bodyPr wrap="square" lIns="0" tIns="0" rIns="0" bIns="0" rtlCol="0" anchor="t"/>
          <a:lstStyle/>
          <a:p>
            <a:pPr indent="0" marL="0">
              <a:buNone/>
            </a:pPr>
            <a:r>
              <a:rPr lang="en-US" sz="1700" b="1" dirty="0">
                <a:solidFill>
                  <a:schemeClr val="tx2"/>
                </a:solidFill>
              </a:rPr>
              <a:t>Heat stress</a:t>
            </a:r>
            <a:endParaRPr lang="en-US" sz="1700" dirty="0"/>
          </a:p>
          <a:p>
            <a:pPr indent="0" marL="0">
              <a:buNone/>
            </a:pPr>
            <a:r>
              <a:rPr lang="en-US" sz="1400" dirty="0">
                <a:solidFill>
                  <a:schemeClr val="tx1"/>
                </a:solidFill>
              </a:rPr>
              <a:t>“Shade nets, mulching, flower before the hottest weeks”</a:t>
            </a:r>
            <a:endParaRPr lang="en-US" sz="1700" dirty="0"/>
          </a:p>
        </p:txBody>
      </p:sp>
      <p:sp>
        <p:nvSpPr>
          <p:cNvPr id="25" name="Slide Number Placeholder 0"/>
          <p:cNvSpPr>
            <a:spLocks noGrp="1"/>
          </p:cNvSpPr>
          <p:nvPr>
            <p:ph type="sldNum" sz="quarter" idx="4294967295"/>
          </p:nvPr>
        </p:nvSpPr>
        <p:spPr>
          <a:xfrm>
            <a:off x="1109441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An interactive dashboard for any point on the map</a:t>
            </a:r>
            <a:endParaRPr lang="en-US" sz="3200" dirty="0"/>
          </a:p>
        </p:txBody>
      </p:sp>
      <p:pic>
        <p:nvPicPr>
          <p:cNvPr id="3" name="Site analysis screenshot" descr="Site analysis screenshot">    </p:cNvPr>
          <p:cNvPicPr>
            <a:picLocks noChangeAspect="1"/>
          </p:cNvPicPr>
          <p:nvPr/>
        </p:nvPicPr>
        <p:blipFill>
          <a:blip r:embed="rId1"/>
          <a:stretch>
            <a:fillRect/>
          </a:stretch>
        </p:blipFill>
        <p:spPr>
          <a:xfrm>
            <a:off x="548640" y="1417320"/>
            <a:ext cx="7315200" cy="4572000"/>
          </a:xfrm>
          <a:prstGeom prst="rect">
            <a:avLst/>
          </a:prstGeom>
          <a:effectLst>
            <a:outerShdw sx="100000" sy="100000" kx="0" ky="0" algn="bl" rotWithShape="0" blurRad="101600" dist="38100" dir="5400000">
              <a:srgbClr val="000000">
                <a:alpha val="25000"/>
              </a:srgbClr>
            </a:outerShdw>
          </a:effectLst>
        </p:spPr>
      </p:pic>
      <p:sp>
        <p:nvSpPr>
          <p:cNvPr id="4" name="feature 1 circle"/>
          <p:cNvSpPr/>
          <p:nvPr/>
        </p:nvSpPr>
        <p:spPr>
          <a:xfrm>
            <a:off x="8229600" y="1508760"/>
            <a:ext cx="685800" cy="685800"/>
          </a:xfrm>
          <a:prstGeom prst="ellipse">
            <a:avLst/>
          </a:prstGeom>
          <a:solidFill>
            <a:srgbClr val="2E7D32"/>
          </a:solidFill>
          <a:ln/>
        </p:spPr>
      </p:sp>
      <p:pic>
        <p:nvPicPr>
          <p:cNvPr id="5" name="feature 1 icon" descr="feature 1">    </p:cNvPr>
          <p:cNvPicPr>
            <a:picLocks noChangeAspect="1"/>
          </p:cNvPicPr>
          <p:nvPr/>
        </p:nvPicPr>
        <p:blipFill>
          <a:blip r:embed="rId2"/>
          <a:stretch>
            <a:fillRect/>
          </a:stretch>
        </p:blipFill>
        <p:spPr>
          <a:xfrm>
            <a:off x="8394192" y="1673352"/>
            <a:ext cx="356616" cy="356616"/>
          </a:xfrm>
          <a:prstGeom prst="rect">
            <a:avLst/>
          </a:prstGeom>
        </p:spPr>
      </p:pic>
      <p:sp>
        <p:nvSpPr>
          <p:cNvPr id="6" name="feature 1 text"/>
          <p:cNvSpPr txBox="1"/>
          <p:nvPr/>
        </p:nvSpPr>
        <p:spPr>
          <a:xfrm>
            <a:off x="9098280" y="1508760"/>
            <a:ext cx="2560320" cy="685800"/>
          </a:xfrm>
          <a:prstGeom prst="rect">
            <a:avLst/>
          </a:prstGeom>
          <a:noFill/>
          <a:ln/>
        </p:spPr>
        <p:txBody>
          <a:bodyPr wrap="square" lIns="0" tIns="0" rIns="0" bIns="0" rtlCol="0" anchor="ctr"/>
          <a:lstStyle/>
          <a:p>
            <a:pPr indent="0" marL="0">
              <a:buNone/>
            </a:pPr>
            <a:r>
              <a:rPr lang="en-US" sz="1500" dirty="0">
                <a:solidFill>
                  <a:schemeClr val="tx1"/>
                </a:solidFill>
              </a:rPr>
              <a:t>Click-to-analyse satellite map</a:t>
            </a:r>
            <a:endParaRPr lang="en-US" sz="1500" dirty="0"/>
          </a:p>
        </p:txBody>
      </p:sp>
      <p:sp>
        <p:nvSpPr>
          <p:cNvPr id="7" name="feature 2 circle"/>
          <p:cNvSpPr/>
          <p:nvPr/>
        </p:nvSpPr>
        <p:spPr>
          <a:xfrm>
            <a:off x="8229600" y="2606040"/>
            <a:ext cx="685800" cy="685800"/>
          </a:xfrm>
          <a:prstGeom prst="ellipse">
            <a:avLst/>
          </a:prstGeom>
          <a:solidFill>
            <a:srgbClr val="2E7D32"/>
          </a:solidFill>
          <a:ln/>
        </p:spPr>
      </p:sp>
      <p:pic>
        <p:nvPicPr>
          <p:cNvPr id="8" name="feature 2 icon" descr="feature 2">    </p:cNvPr>
          <p:cNvPicPr>
            <a:picLocks noChangeAspect="1"/>
          </p:cNvPicPr>
          <p:nvPr/>
        </p:nvPicPr>
        <p:blipFill>
          <a:blip r:embed="rId3"/>
          <a:stretch>
            <a:fillRect/>
          </a:stretch>
        </p:blipFill>
        <p:spPr>
          <a:xfrm>
            <a:off x="8394192" y="2770632"/>
            <a:ext cx="356616" cy="356616"/>
          </a:xfrm>
          <a:prstGeom prst="rect">
            <a:avLst/>
          </a:prstGeom>
        </p:spPr>
      </p:pic>
      <p:sp>
        <p:nvSpPr>
          <p:cNvPr id="9" name="feature 2 text"/>
          <p:cNvSpPr txBox="1"/>
          <p:nvPr/>
        </p:nvSpPr>
        <p:spPr>
          <a:xfrm>
            <a:off x="9098280" y="2606040"/>
            <a:ext cx="2560320" cy="685800"/>
          </a:xfrm>
          <a:prstGeom prst="rect">
            <a:avLst/>
          </a:prstGeom>
          <a:noFill/>
          <a:ln/>
        </p:spPr>
        <p:txBody>
          <a:bodyPr wrap="square" lIns="0" tIns="0" rIns="0" bIns="0" rtlCol="0" anchor="ctr"/>
          <a:lstStyle/>
          <a:p>
            <a:pPr indent="0" marL="0">
              <a:buNone/>
            </a:pPr>
            <a:r>
              <a:rPr lang="en-US" sz="1500" dirty="0">
                <a:solidFill>
                  <a:schemeClr val="tx1"/>
                </a:solidFill>
              </a:rPr>
              <a:t>KPIs, ranking, radar, climograph, water balance</a:t>
            </a:r>
            <a:endParaRPr lang="en-US" sz="1500" dirty="0"/>
          </a:p>
        </p:txBody>
      </p:sp>
      <p:sp>
        <p:nvSpPr>
          <p:cNvPr id="10" name="feature 3 circle"/>
          <p:cNvSpPr/>
          <p:nvPr/>
        </p:nvSpPr>
        <p:spPr>
          <a:xfrm>
            <a:off x="8229600" y="3703320"/>
            <a:ext cx="685800" cy="685800"/>
          </a:xfrm>
          <a:prstGeom prst="ellipse">
            <a:avLst/>
          </a:prstGeom>
          <a:solidFill>
            <a:srgbClr val="2E7D32"/>
          </a:solidFill>
          <a:ln/>
        </p:spPr>
      </p:sp>
      <p:pic>
        <p:nvPicPr>
          <p:cNvPr id="11" name="feature 3 icon" descr="feature 3">    </p:cNvPr>
          <p:cNvPicPr>
            <a:picLocks noChangeAspect="1"/>
          </p:cNvPicPr>
          <p:nvPr/>
        </p:nvPicPr>
        <p:blipFill>
          <a:blip r:embed="rId4"/>
          <a:stretch>
            <a:fillRect/>
          </a:stretch>
        </p:blipFill>
        <p:spPr>
          <a:xfrm>
            <a:off x="8394192" y="3867912"/>
            <a:ext cx="356616" cy="356616"/>
          </a:xfrm>
          <a:prstGeom prst="rect">
            <a:avLst/>
          </a:prstGeom>
        </p:spPr>
      </p:pic>
      <p:sp>
        <p:nvSpPr>
          <p:cNvPr id="12" name="feature 3 text"/>
          <p:cNvSpPr txBox="1"/>
          <p:nvPr/>
        </p:nvSpPr>
        <p:spPr>
          <a:xfrm>
            <a:off x="9098280" y="3703320"/>
            <a:ext cx="2560320" cy="685800"/>
          </a:xfrm>
          <a:prstGeom prst="rect">
            <a:avLst/>
          </a:prstGeom>
          <a:noFill/>
          <a:ln/>
        </p:spPr>
        <p:txBody>
          <a:bodyPr wrap="square" lIns="0" tIns="0" rIns="0" bIns="0" rtlCol="0" anchor="ctr"/>
          <a:lstStyle/>
          <a:p>
            <a:pPr indent="0" marL="0">
              <a:buNone/>
            </a:pPr>
            <a:r>
              <a:rPr lang="en-US" sz="1500" dirty="0">
                <a:solidFill>
                  <a:schemeClr val="tx1"/>
                </a:solidFill>
              </a:rPr>
              <a:t>Rainfed vs irrigated toggle</a:t>
            </a:r>
            <a:endParaRPr lang="en-US" sz="1500" dirty="0"/>
          </a:p>
        </p:txBody>
      </p:sp>
      <p:sp>
        <p:nvSpPr>
          <p:cNvPr id="13" name="feature 4 circle"/>
          <p:cNvSpPr/>
          <p:nvPr/>
        </p:nvSpPr>
        <p:spPr>
          <a:xfrm>
            <a:off x="8229600" y="4800600"/>
            <a:ext cx="685800" cy="685800"/>
          </a:xfrm>
          <a:prstGeom prst="ellipse">
            <a:avLst/>
          </a:prstGeom>
          <a:solidFill>
            <a:srgbClr val="2E7D32"/>
          </a:solidFill>
          <a:ln/>
        </p:spPr>
      </p:sp>
      <p:pic>
        <p:nvPicPr>
          <p:cNvPr id="14" name="feature 4 icon" descr="feature 4">    </p:cNvPr>
          <p:cNvPicPr>
            <a:picLocks noChangeAspect="1"/>
          </p:cNvPicPr>
          <p:nvPr/>
        </p:nvPicPr>
        <p:blipFill>
          <a:blip r:embed="rId5"/>
          <a:stretch>
            <a:fillRect/>
          </a:stretch>
        </p:blipFill>
        <p:spPr>
          <a:xfrm>
            <a:off x="8394192" y="4965192"/>
            <a:ext cx="356616" cy="356616"/>
          </a:xfrm>
          <a:prstGeom prst="rect">
            <a:avLst/>
          </a:prstGeom>
        </p:spPr>
      </p:pic>
      <p:sp>
        <p:nvSpPr>
          <p:cNvPr id="15" name="feature 4 text"/>
          <p:cNvSpPr txBox="1"/>
          <p:nvPr/>
        </p:nvSpPr>
        <p:spPr>
          <a:xfrm>
            <a:off x="9098280" y="4800600"/>
            <a:ext cx="2560320" cy="685800"/>
          </a:xfrm>
          <a:prstGeom prst="rect">
            <a:avLst/>
          </a:prstGeom>
          <a:noFill/>
          <a:ln/>
        </p:spPr>
        <p:txBody>
          <a:bodyPr wrap="square" lIns="0" tIns="0" rIns="0" bIns="0" rtlCol="0" anchor="ctr"/>
          <a:lstStyle/>
          <a:p>
            <a:pPr indent="0" marL="0">
              <a:buNone/>
            </a:pPr>
            <a:r>
              <a:rPr lang="en-US" sz="1500" dirty="0">
                <a:solidFill>
                  <a:schemeClr val="tx1"/>
                </a:solidFill>
              </a:rPr>
              <a:t>One-click CSV, GeoJSON, KML and report</a:t>
            </a:r>
            <a:endParaRPr lang="en-US" sz="1500" dirty="0"/>
          </a:p>
        </p:txBody>
      </p:sp>
      <p:sp>
        <p:nvSpPr>
          <p:cNvPr id="25" name="Slide Number Placeholder 0"/>
          <p:cNvSpPr>
            <a:spLocks noGrp="1"/>
          </p:cNvSpPr>
          <p:nvPr>
            <p:ph type="sldNum" sz="quarter" idx="4294967295"/>
          </p:nvPr>
        </p:nvSpPr>
        <p:spPr>
          <a:xfrm>
            <a:off x="1109441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Regional scans map the best crop for every cell</a:t>
            </a:r>
            <a:endParaRPr lang="en-US" sz="3200" dirty="0"/>
          </a:p>
        </p:txBody>
      </p:sp>
      <p:pic>
        <p:nvPicPr>
          <p:cNvPr id="3" name="Regional scan screenshot" descr="Regional scan screenshot">    </p:cNvPr>
          <p:cNvPicPr>
            <a:picLocks noChangeAspect="1"/>
          </p:cNvPicPr>
          <p:nvPr/>
        </p:nvPicPr>
        <p:blipFill>
          <a:blip r:embed="rId1"/>
          <a:stretch>
            <a:fillRect/>
          </a:stretch>
        </p:blipFill>
        <p:spPr>
          <a:xfrm>
            <a:off x="548640" y="1417320"/>
            <a:ext cx="7315200" cy="4572000"/>
          </a:xfrm>
          <a:prstGeom prst="rect">
            <a:avLst/>
          </a:prstGeom>
          <a:effectLst>
            <a:outerShdw sx="100000" sy="100000" kx="0" ky="0" algn="bl" rotWithShape="0" blurRad="101600" dist="38100" dir="5400000">
              <a:srgbClr val="000000">
                <a:alpha val="25000"/>
              </a:srgbClr>
            </a:outerShdw>
          </a:effectLst>
        </p:spPr>
      </p:pic>
      <p:sp>
        <p:nvSpPr>
          <p:cNvPr id="4" name="scan stat 1"/>
          <p:cNvSpPr txBox="1"/>
          <p:nvPr/>
        </p:nvSpPr>
        <p:spPr>
          <a:xfrm>
            <a:off x="8229600" y="1463040"/>
            <a:ext cx="3429000" cy="1325880"/>
          </a:xfrm>
          <a:prstGeom prst="rect">
            <a:avLst/>
          </a:prstGeom>
          <a:noFill/>
          <a:ln/>
        </p:spPr>
        <p:txBody>
          <a:bodyPr wrap="square" lIns="0" tIns="0" rIns="0" bIns="0" rtlCol="0" anchor="t"/>
          <a:lstStyle/>
          <a:p>
            <a:pPr indent="0" marL="0">
              <a:buNone/>
            </a:pPr>
            <a:r>
              <a:rPr lang="en-US" sz="4400" b="1" dirty="0">
                <a:solidFill>
                  <a:schemeClr val="accent1"/>
                </a:solidFill>
              </a:rPr>
              <a:t>30</a:t>
            </a:r>
            <a:endParaRPr lang="en-US" sz="4400" dirty="0"/>
          </a:p>
          <a:p>
            <a:pPr indent="0" marL="0">
              <a:buNone/>
            </a:pPr>
            <a:r>
              <a:rPr lang="en-US" sz="1500" dirty="0">
                <a:solidFill>
                  <a:schemeClr val="tx1"/>
                </a:solidFill>
              </a:rPr>
              <a:t>land cells of ~39 km in northern Tunisia</a:t>
            </a:r>
            <a:endParaRPr lang="en-US" sz="4400" dirty="0"/>
          </a:p>
        </p:txBody>
      </p:sp>
      <p:sp>
        <p:nvSpPr>
          <p:cNvPr id="5" name="scan stat 2"/>
          <p:cNvSpPr txBox="1"/>
          <p:nvPr/>
        </p:nvSpPr>
        <p:spPr>
          <a:xfrm>
            <a:off x="8229600" y="2926080"/>
            <a:ext cx="3429000" cy="1325880"/>
          </a:xfrm>
          <a:prstGeom prst="rect">
            <a:avLst/>
          </a:prstGeom>
          <a:noFill/>
          <a:ln/>
        </p:spPr>
        <p:txBody>
          <a:bodyPr wrap="square" lIns="0" tIns="0" rIns="0" bIns="0" rtlCol="0" anchor="t"/>
          <a:lstStyle/>
          <a:p>
            <a:pPr indent="0" marL="0">
              <a:buNone/>
            </a:pPr>
            <a:r>
              <a:rPr lang="en-US" sz="4400" b="1" dirty="0">
                <a:solidFill>
                  <a:schemeClr val="accent1"/>
                </a:solidFill>
              </a:rPr>
              <a:t>19</a:t>
            </a:r>
            <a:endParaRPr lang="en-US" sz="4400" dirty="0"/>
          </a:p>
          <a:p>
            <a:pPr indent="0" marL="0">
              <a:buNone/>
            </a:pPr>
            <a:r>
              <a:rPr lang="en-US" sz="1500" dirty="0">
                <a:solidFill>
                  <a:schemeClr val="tx1"/>
                </a:solidFill>
              </a:rPr>
              <a:t>cells where barley is the best crop</a:t>
            </a:r>
            <a:endParaRPr lang="en-US" sz="4400" dirty="0"/>
          </a:p>
        </p:txBody>
      </p:sp>
      <p:sp>
        <p:nvSpPr>
          <p:cNvPr id="6" name="scan stat 3"/>
          <p:cNvSpPr txBox="1"/>
          <p:nvPr/>
        </p:nvSpPr>
        <p:spPr>
          <a:xfrm>
            <a:off x="8229600" y="4389120"/>
            <a:ext cx="3429000" cy="1325880"/>
          </a:xfrm>
          <a:prstGeom prst="rect">
            <a:avLst/>
          </a:prstGeom>
          <a:noFill/>
          <a:ln/>
        </p:spPr>
        <p:txBody>
          <a:bodyPr wrap="square" lIns="0" tIns="0" rIns="0" bIns="0" rtlCol="0" anchor="t"/>
          <a:lstStyle/>
          <a:p>
            <a:pPr indent="0" marL="0">
              <a:buNone/>
            </a:pPr>
            <a:r>
              <a:rPr lang="en-US" sz="4400" b="1" dirty="0">
                <a:solidFill>
                  <a:schemeClr val="accent1"/>
                </a:solidFill>
              </a:rPr>
              <a:t>97%</a:t>
            </a:r>
            <a:endParaRPr lang="en-US" sz="4400" dirty="0"/>
          </a:p>
          <a:p>
            <a:pPr indent="0" marL="0">
              <a:buNone/>
            </a:pPr>
            <a:r>
              <a:rPr lang="en-US" sz="1500" dirty="0">
                <a:solidFill>
                  <a:schemeClr val="tx1"/>
                </a:solidFill>
              </a:rPr>
              <a:t>of cells where olive is S1, the most robust crop</a:t>
            </a:r>
            <a:endParaRPr lang="en-US" sz="4400" dirty="0"/>
          </a:p>
        </p:txBody>
      </p:sp>
      <p:sp>
        <p:nvSpPr>
          <p:cNvPr id="25" name="Slide Number Placeholder 0"/>
          <p:cNvSpPr>
            <a:spLocks noGrp="1"/>
          </p:cNvSpPr>
          <p:nvPr>
            <p:ph type="sldNum" sz="quarter" idx="4294967295"/>
          </p:nvPr>
        </p:nvSpPr>
        <p:spPr>
          <a:xfrm>
            <a:off x="1109441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Results match the region's agricultural geography</a:t>
            </a:r>
            <a:endParaRPr lang="en-US" sz="3200" dirty="0"/>
          </a:p>
        </p:txBody>
      </p:sp>
      <p:graphicFrame>
        <p:nvGraphicFramePr>
          <p:cNvPr id="12" name="results table"/>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103120"/>
                <a:gridCol w="1463040"/>
                <a:gridCol w="2377440"/>
                <a:gridCol w="2560320"/>
                <a:gridCol w="2587752"/>
              </a:tblGrid>
              <a:tr h="38404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Site</a:t>
                      </a:r>
                      <a:endParaRPr lang="en-US" sz="1400" dirty="0">
                        <a:latin typeface="Calibri" charset="0"/>
                        <a:ea typeface="Calibri" charset="0"/>
                        <a:cs typeface="Calibri" charset="0"/>
                      </a:endParaRPr>
                    </a:p>
                  </a:txBody>
                  <a:tcPr marL="91440" marR="91440" marT="27432" marB="27432"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2E7D32"/>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Rain (mm)</a:t>
                      </a:r>
                      <a:endParaRPr lang="en-US" sz="1400" dirty="0">
                        <a:latin typeface="Calibri" charset="0"/>
                        <a:ea typeface="Calibri" charset="0"/>
                        <a:cs typeface="Calibri" charset="0"/>
                      </a:endParaRPr>
                    </a:p>
                  </a:txBody>
                  <a:tcPr marL="91440" marR="91440" marT="27432" marB="27432"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2E7D32"/>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Aridity</a:t>
                      </a:r>
                      <a:endParaRPr lang="en-US" sz="1400" dirty="0">
                        <a:latin typeface="Calibri" charset="0"/>
                        <a:ea typeface="Calibri" charset="0"/>
                        <a:cs typeface="Calibri" charset="0"/>
                      </a:endParaRPr>
                    </a:p>
                  </a:txBody>
                  <a:tcPr marL="91440" marR="91440" marT="27432" marB="27432"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2E7D32"/>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Best crop, rainfed</a:t>
                      </a:r>
                      <a:endParaRPr lang="en-US" sz="1400" dirty="0">
                        <a:latin typeface="Calibri" charset="0"/>
                        <a:ea typeface="Calibri" charset="0"/>
                        <a:cs typeface="Calibri" charset="0"/>
                      </a:endParaRPr>
                    </a:p>
                  </a:txBody>
                  <a:tcPr marL="91440" marR="91440" marT="27432" marB="27432"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2E7D32"/>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Best crop, irrigated</a:t>
                      </a:r>
                      <a:endParaRPr lang="en-US" sz="1400" dirty="0">
                        <a:latin typeface="Calibri" charset="0"/>
                        <a:ea typeface="Calibri" charset="0"/>
                        <a:cs typeface="Calibri" charset="0"/>
                      </a:endParaRPr>
                    </a:p>
                  </a:txBody>
                  <a:tcPr marL="91440" marR="91440" marT="27432" marB="27432"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2E7D32"/>
                    </a:solidFill>
                  </a:tcPr>
                </a:tc>
              </a:tr>
              <a:tr h="384048">
                <a:tc>
                  <a:txBody>
                    <a:bodyPr/>
                    <a:lstStyle/>
                    <a:p>
                      <a:pPr indent="0" marL="0">
                        <a:buNone/>
                      </a:pPr>
                      <a:r>
                        <a:rPr lang="en-US" sz="1400" b="1" dirty="0">
                          <a:solidFill>
                            <a:srgbClr val="1B2A1F"/>
                          </a:solidFill>
                          <a:latin typeface="Calibri" pitchFamily="34" charset="0"/>
                          <a:ea typeface="Calibri" pitchFamily="34" charset="-122"/>
                          <a:cs typeface="Calibri" pitchFamily="34" charset="-120"/>
                        </a:rPr>
                        <a:t>Meknès</a:t>
                      </a:r>
                      <a:endParaRPr lang="en-US" sz="1400" dirty="0">
                        <a:latin typeface="Calibri" charset="0"/>
                        <a:ea typeface="Calibri" charset="0"/>
                        <a:cs typeface="Calibri" charset="0"/>
                      </a:endParaRPr>
                    </a:p>
                  </a:txBody>
                  <a:tcPr marL="91440" marR="91440" marT="27432" marB="27432"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A1F"/>
                          </a:solidFill>
                          <a:latin typeface="Calibri" pitchFamily="34" charset="0"/>
                          <a:ea typeface="Calibri" pitchFamily="34" charset="-122"/>
                          <a:cs typeface="Calibri" pitchFamily="34" charset="-120"/>
                        </a:rPr>
                        <a:t>489</a:t>
                      </a:r>
                      <a:endParaRPr lang="en-US" sz="1400" dirty="0">
                        <a:latin typeface="Calibri" charset="0"/>
                        <a:ea typeface="Calibri" charset="0"/>
                        <a:cs typeface="Calibri" charset="0"/>
                      </a:endParaRPr>
                    </a:p>
                  </a:txBody>
                  <a:tcPr marL="91440" marR="91440" marT="27432" marB="27432"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indent="0" marL="0">
                        <a:buNone/>
                      </a:pPr>
                      <a:r>
                        <a:rPr lang="en-US" sz="1400" dirty="0">
                          <a:solidFill>
                            <a:srgbClr val="1B2A1F"/>
                          </a:solidFill>
                          <a:latin typeface="Calibri" pitchFamily="34" charset="0"/>
                          <a:ea typeface="Calibri" pitchFamily="34" charset="-122"/>
                          <a:cs typeface="Calibri" pitchFamily="34" charset="-120"/>
                        </a:rPr>
                        <a:t>0.33 Semi-arid</a:t>
                      </a:r>
                      <a:endParaRPr lang="en-US" sz="1400" dirty="0">
                        <a:latin typeface="Calibri" charset="0"/>
                        <a:ea typeface="Calibri" charset="0"/>
                        <a:cs typeface="Calibri" charset="0"/>
                      </a:endParaRPr>
                    </a:p>
                  </a:txBody>
                  <a:tcPr marL="91440" marR="91440" marT="27432" marB="27432"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indent="0" marL="0">
                        <a:buNone/>
                      </a:pPr>
                      <a:r>
                        <a:rPr lang="en-US" sz="1400" dirty="0">
                          <a:solidFill>
                            <a:srgbClr val="1B2A1F"/>
                          </a:solidFill>
                          <a:latin typeface="Calibri" pitchFamily="34" charset="0"/>
                          <a:ea typeface="Calibri" pitchFamily="34" charset="-122"/>
                          <a:cs typeface="Calibri" pitchFamily="34" charset="-120"/>
                        </a:rPr>
                        <a:t>Chickpea 0.95 (S1)</a:t>
                      </a:r>
                      <a:endParaRPr lang="en-US" sz="1400" dirty="0">
                        <a:latin typeface="Calibri" charset="0"/>
                        <a:ea typeface="Calibri" charset="0"/>
                        <a:cs typeface="Calibri" charset="0"/>
                      </a:endParaRPr>
                    </a:p>
                  </a:txBody>
                  <a:tcPr marL="91440" marR="91440" marT="27432" marB="27432"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indent="0" marL="0">
                        <a:buNone/>
                      </a:pPr>
                      <a:r>
                        <a:rPr lang="en-US" sz="1400" dirty="0">
                          <a:solidFill>
                            <a:srgbClr val="1B2A1F"/>
                          </a:solidFill>
                          <a:latin typeface="Calibri" pitchFamily="34" charset="0"/>
                          <a:ea typeface="Calibri" pitchFamily="34" charset="-122"/>
                          <a:cs typeface="Calibri" pitchFamily="34" charset="-120"/>
                        </a:rPr>
                        <a:t>Chickpea 0.95 (S1)</a:t>
                      </a:r>
                      <a:endParaRPr lang="en-US" sz="1400" dirty="0">
                        <a:latin typeface="Calibri" charset="0"/>
                        <a:ea typeface="Calibri" charset="0"/>
                        <a:cs typeface="Calibri" charset="0"/>
                      </a:endParaRPr>
                    </a:p>
                  </a:txBody>
                  <a:tcPr marL="91440" marR="91440" marT="27432" marB="27432"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r>
              <a:tr h="384048">
                <a:tc>
                  <a:txBody>
                    <a:bodyPr/>
                    <a:lstStyle/>
                    <a:p>
                      <a:pPr indent="0" marL="0">
                        <a:buNone/>
                      </a:pPr>
                      <a:r>
                        <a:rPr lang="en-US" sz="1400" b="1" dirty="0">
                          <a:solidFill>
                            <a:srgbClr val="1B2A1F"/>
                          </a:solidFill>
                          <a:latin typeface="Calibri" pitchFamily="34" charset="0"/>
                          <a:ea typeface="Calibri" pitchFamily="34" charset="-122"/>
                          <a:cs typeface="Calibri" pitchFamily="34" charset="-120"/>
                        </a:rPr>
                        <a:t>Béja</a:t>
                      </a:r>
                      <a:endParaRPr lang="en-US" sz="1400" dirty="0">
                        <a:latin typeface="Calibri" charset="0"/>
                        <a:ea typeface="Calibri" charset="0"/>
                        <a:cs typeface="Calibri" charset="0"/>
                      </a:endParaRPr>
                    </a:p>
                  </a:txBody>
                  <a:tcPr marL="91440" marR="91440" marT="27432" marB="27432"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5EE"/>
                    </a:solidFill>
                  </a:tcPr>
                </a:tc>
                <a:tc>
                  <a:txBody>
                    <a:bodyPr/>
                    <a:lstStyle/>
                    <a:p>
                      <a:pPr algn="r" indent="0" marL="0">
                        <a:buNone/>
                      </a:pPr>
                      <a:r>
                        <a:rPr lang="en-US" sz="1400" dirty="0">
                          <a:solidFill>
                            <a:srgbClr val="1B2A1F"/>
                          </a:solidFill>
                          <a:latin typeface="Calibri" pitchFamily="34" charset="0"/>
                          <a:ea typeface="Calibri" pitchFamily="34" charset="-122"/>
                          <a:cs typeface="Calibri" pitchFamily="34" charset="-120"/>
                        </a:rPr>
                        <a:t>438</a:t>
                      </a:r>
                      <a:endParaRPr lang="en-US" sz="1400" dirty="0">
                        <a:latin typeface="Calibri" charset="0"/>
                        <a:ea typeface="Calibri" charset="0"/>
                        <a:cs typeface="Calibri" charset="0"/>
                      </a:endParaRPr>
                    </a:p>
                  </a:txBody>
                  <a:tcPr marL="91440" marR="91440" marT="27432" marB="27432"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5EE"/>
                    </a:solidFill>
                  </a:tcPr>
                </a:tc>
                <a:tc>
                  <a:txBody>
                    <a:bodyPr/>
                    <a:lstStyle/>
                    <a:p>
                      <a:pPr indent="0" marL="0">
                        <a:buNone/>
                      </a:pPr>
                      <a:r>
                        <a:rPr lang="en-US" sz="1400" dirty="0">
                          <a:solidFill>
                            <a:srgbClr val="1B2A1F"/>
                          </a:solidFill>
                          <a:latin typeface="Calibri" pitchFamily="34" charset="0"/>
                          <a:ea typeface="Calibri" pitchFamily="34" charset="-122"/>
                          <a:cs typeface="Calibri" pitchFamily="34" charset="-120"/>
                        </a:rPr>
                        <a:t>0.31 Semi-arid</a:t>
                      </a:r>
                      <a:endParaRPr lang="en-US" sz="1400" dirty="0">
                        <a:latin typeface="Calibri" charset="0"/>
                        <a:ea typeface="Calibri" charset="0"/>
                        <a:cs typeface="Calibri" charset="0"/>
                      </a:endParaRPr>
                    </a:p>
                  </a:txBody>
                  <a:tcPr marL="91440" marR="91440" marT="27432" marB="27432"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5EE"/>
                    </a:solidFill>
                  </a:tcPr>
                </a:tc>
                <a:tc>
                  <a:txBody>
                    <a:bodyPr/>
                    <a:lstStyle/>
                    <a:p>
                      <a:pPr indent="0" marL="0">
                        <a:buNone/>
                      </a:pPr>
                      <a:r>
                        <a:rPr lang="en-US" sz="1400" dirty="0">
                          <a:solidFill>
                            <a:srgbClr val="1B2A1F"/>
                          </a:solidFill>
                          <a:latin typeface="Calibri" pitchFamily="34" charset="0"/>
                          <a:ea typeface="Calibri" pitchFamily="34" charset="-122"/>
                          <a:cs typeface="Calibri" pitchFamily="34" charset="-120"/>
                        </a:rPr>
                        <a:t>Barley 0.93 (S1)</a:t>
                      </a:r>
                      <a:endParaRPr lang="en-US" sz="1400" dirty="0">
                        <a:latin typeface="Calibri" charset="0"/>
                        <a:ea typeface="Calibri" charset="0"/>
                        <a:cs typeface="Calibri" charset="0"/>
                      </a:endParaRPr>
                    </a:p>
                  </a:txBody>
                  <a:tcPr marL="91440" marR="91440" marT="27432" marB="27432"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5EE"/>
                    </a:solidFill>
                  </a:tcPr>
                </a:tc>
                <a:tc>
                  <a:txBody>
                    <a:bodyPr/>
                    <a:lstStyle/>
                    <a:p>
                      <a:pPr indent="0" marL="0">
                        <a:buNone/>
                      </a:pPr>
                      <a:r>
                        <a:rPr lang="en-US" sz="1400" dirty="0">
                          <a:solidFill>
                            <a:srgbClr val="1B2A1F"/>
                          </a:solidFill>
                          <a:latin typeface="Calibri" pitchFamily="34" charset="0"/>
                          <a:ea typeface="Calibri" pitchFamily="34" charset="-122"/>
                          <a:cs typeface="Calibri" pitchFamily="34" charset="-120"/>
                        </a:rPr>
                        <a:t>Barley 0.93 (S1)</a:t>
                      </a:r>
                      <a:endParaRPr lang="en-US" sz="1400" dirty="0">
                        <a:latin typeface="Calibri" charset="0"/>
                        <a:ea typeface="Calibri" charset="0"/>
                        <a:cs typeface="Calibri" charset="0"/>
                      </a:endParaRPr>
                    </a:p>
                  </a:txBody>
                  <a:tcPr marL="91440" marR="91440" marT="27432" marB="27432"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5EE"/>
                    </a:solidFill>
                  </a:tcPr>
                </a:tc>
              </a:tr>
              <a:tr h="384048">
                <a:tc>
                  <a:txBody>
                    <a:bodyPr/>
                    <a:lstStyle/>
                    <a:p>
                      <a:pPr indent="0" marL="0">
                        <a:buNone/>
                      </a:pPr>
                      <a:r>
                        <a:rPr lang="en-US" sz="1400" b="1" dirty="0">
                          <a:solidFill>
                            <a:srgbClr val="1B2A1F"/>
                          </a:solidFill>
                          <a:latin typeface="Calibri" pitchFamily="34" charset="0"/>
                          <a:ea typeface="Calibri" pitchFamily="34" charset="-122"/>
                          <a:cs typeface="Calibri" pitchFamily="34" charset="-120"/>
                        </a:rPr>
                        <a:t>Tunis</a:t>
                      </a:r>
                      <a:endParaRPr lang="en-US" sz="1400" dirty="0">
                        <a:latin typeface="Calibri" charset="0"/>
                        <a:ea typeface="Calibri" charset="0"/>
                        <a:cs typeface="Calibri" charset="0"/>
                      </a:endParaRPr>
                    </a:p>
                  </a:txBody>
                  <a:tcPr marL="91440" marR="91440" marT="27432" marB="27432"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A1F"/>
                          </a:solidFill>
                          <a:latin typeface="Calibri" pitchFamily="34" charset="0"/>
                          <a:ea typeface="Calibri" pitchFamily="34" charset="-122"/>
                          <a:cs typeface="Calibri" pitchFamily="34" charset="-120"/>
                        </a:rPr>
                        <a:t>406</a:t>
                      </a:r>
                      <a:endParaRPr lang="en-US" sz="1400" dirty="0">
                        <a:latin typeface="Calibri" charset="0"/>
                        <a:ea typeface="Calibri" charset="0"/>
                        <a:cs typeface="Calibri" charset="0"/>
                      </a:endParaRPr>
                    </a:p>
                  </a:txBody>
                  <a:tcPr marL="91440" marR="91440" marT="27432" marB="27432"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indent="0" marL="0">
                        <a:buNone/>
                      </a:pPr>
                      <a:r>
                        <a:rPr lang="en-US" sz="1400" dirty="0">
                          <a:solidFill>
                            <a:srgbClr val="1B2A1F"/>
                          </a:solidFill>
                          <a:latin typeface="Calibri" pitchFamily="34" charset="0"/>
                          <a:ea typeface="Calibri" pitchFamily="34" charset="-122"/>
                          <a:cs typeface="Calibri" pitchFamily="34" charset="-120"/>
                        </a:rPr>
                        <a:t>0.29 Semi-arid</a:t>
                      </a:r>
                      <a:endParaRPr lang="en-US" sz="1400" dirty="0">
                        <a:latin typeface="Calibri" charset="0"/>
                        <a:ea typeface="Calibri" charset="0"/>
                        <a:cs typeface="Calibri" charset="0"/>
                      </a:endParaRPr>
                    </a:p>
                  </a:txBody>
                  <a:tcPr marL="91440" marR="91440" marT="27432" marB="27432"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indent="0" marL="0">
                        <a:buNone/>
                      </a:pPr>
                      <a:r>
                        <a:rPr lang="en-US" sz="1400" dirty="0">
                          <a:solidFill>
                            <a:srgbClr val="1B2A1F"/>
                          </a:solidFill>
                          <a:latin typeface="Calibri" pitchFamily="34" charset="0"/>
                          <a:ea typeface="Calibri" pitchFamily="34" charset="-122"/>
                          <a:cs typeface="Calibri" pitchFamily="34" charset="-120"/>
                        </a:rPr>
                        <a:t>Barley 0.92 (S1)</a:t>
                      </a:r>
                      <a:endParaRPr lang="en-US" sz="1400" dirty="0">
                        <a:latin typeface="Calibri" charset="0"/>
                        <a:ea typeface="Calibri" charset="0"/>
                        <a:cs typeface="Calibri" charset="0"/>
                      </a:endParaRPr>
                    </a:p>
                  </a:txBody>
                  <a:tcPr marL="91440" marR="91440" marT="27432" marB="27432"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indent="0" marL="0">
                        <a:buNone/>
                      </a:pPr>
                      <a:r>
                        <a:rPr lang="en-US" sz="1400" dirty="0">
                          <a:solidFill>
                            <a:srgbClr val="1B2A1F"/>
                          </a:solidFill>
                          <a:latin typeface="Calibri" pitchFamily="34" charset="0"/>
                          <a:ea typeface="Calibri" pitchFamily="34" charset="-122"/>
                          <a:cs typeface="Calibri" pitchFamily="34" charset="-120"/>
                        </a:rPr>
                        <a:t>Barley 0.92 (S1)</a:t>
                      </a:r>
                      <a:endParaRPr lang="en-US" sz="1400" dirty="0">
                        <a:latin typeface="Calibri" charset="0"/>
                        <a:ea typeface="Calibri" charset="0"/>
                        <a:cs typeface="Calibri" charset="0"/>
                      </a:endParaRPr>
                    </a:p>
                  </a:txBody>
                  <a:tcPr marL="91440" marR="91440" marT="27432" marB="27432"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r>
              <a:tr h="384048">
                <a:tc>
                  <a:txBody>
                    <a:bodyPr/>
                    <a:lstStyle/>
                    <a:p>
                      <a:pPr indent="0" marL="0">
                        <a:buNone/>
                      </a:pPr>
                      <a:r>
                        <a:rPr lang="en-US" sz="1400" b="1" dirty="0">
                          <a:solidFill>
                            <a:srgbClr val="1B2A1F"/>
                          </a:solidFill>
                          <a:latin typeface="Calibri" pitchFamily="34" charset="0"/>
                          <a:ea typeface="Calibri" pitchFamily="34" charset="-122"/>
                          <a:cs typeface="Calibri" pitchFamily="34" charset="-120"/>
                        </a:rPr>
                        <a:t>Sétif</a:t>
                      </a:r>
                      <a:endParaRPr lang="en-US" sz="1400" dirty="0">
                        <a:latin typeface="Calibri" charset="0"/>
                        <a:ea typeface="Calibri" charset="0"/>
                        <a:cs typeface="Calibri" charset="0"/>
                      </a:endParaRPr>
                    </a:p>
                  </a:txBody>
                  <a:tcPr marL="91440" marR="91440" marT="27432" marB="27432"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5EE"/>
                    </a:solidFill>
                  </a:tcPr>
                </a:tc>
                <a:tc>
                  <a:txBody>
                    <a:bodyPr/>
                    <a:lstStyle/>
                    <a:p>
                      <a:pPr algn="r" indent="0" marL="0">
                        <a:buNone/>
                      </a:pPr>
                      <a:r>
                        <a:rPr lang="en-US" sz="1400" dirty="0">
                          <a:solidFill>
                            <a:srgbClr val="1B2A1F"/>
                          </a:solidFill>
                          <a:latin typeface="Calibri" pitchFamily="34" charset="0"/>
                          <a:ea typeface="Calibri" pitchFamily="34" charset="-122"/>
                          <a:cs typeface="Calibri" pitchFamily="34" charset="-120"/>
                        </a:rPr>
                        <a:t>395</a:t>
                      </a:r>
                      <a:endParaRPr lang="en-US" sz="1400" dirty="0">
                        <a:latin typeface="Calibri" charset="0"/>
                        <a:ea typeface="Calibri" charset="0"/>
                        <a:cs typeface="Calibri" charset="0"/>
                      </a:endParaRPr>
                    </a:p>
                  </a:txBody>
                  <a:tcPr marL="91440" marR="91440" marT="27432" marB="27432"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5EE"/>
                    </a:solidFill>
                  </a:tcPr>
                </a:tc>
                <a:tc>
                  <a:txBody>
                    <a:bodyPr/>
                    <a:lstStyle/>
                    <a:p>
                      <a:pPr indent="0" marL="0">
                        <a:buNone/>
                      </a:pPr>
                      <a:r>
                        <a:rPr lang="en-US" sz="1400" dirty="0">
                          <a:solidFill>
                            <a:srgbClr val="1B2A1F"/>
                          </a:solidFill>
                          <a:latin typeface="Calibri" pitchFamily="34" charset="0"/>
                          <a:ea typeface="Calibri" pitchFamily="34" charset="-122"/>
                          <a:cs typeface="Calibri" pitchFamily="34" charset="-120"/>
                        </a:rPr>
                        <a:t>0.28 Semi-arid</a:t>
                      </a:r>
                      <a:endParaRPr lang="en-US" sz="1400" dirty="0">
                        <a:latin typeface="Calibri" charset="0"/>
                        <a:ea typeface="Calibri" charset="0"/>
                        <a:cs typeface="Calibri" charset="0"/>
                      </a:endParaRPr>
                    </a:p>
                  </a:txBody>
                  <a:tcPr marL="91440" marR="91440" marT="27432" marB="27432"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5EE"/>
                    </a:solidFill>
                  </a:tcPr>
                </a:tc>
                <a:tc>
                  <a:txBody>
                    <a:bodyPr/>
                    <a:lstStyle/>
                    <a:p>
                      <a:pPr indent="0" marL="0">
                        <a:buNone/>
                      </a:pPr>
                      <a:r>
                        <a:rPr lang="en-US" sz="1400" dirty="0">
                          <a:solidFill>
                            <a:srgbClr val="1B2A1F"/>
                          </a:solidFill>
                          <a:latin typeface="Calibri" pitchFamily="34" charset="0"/>
                          <a:ea typeface="Calibri" pitchFamily="34" charset="-122"/>
                          <a:cs typeface="Calibri" pitchFamily="34" charset="-120"/>
                        </a:rPr>
                        <a:t>Barley 0.94 (S1)</a:t>
                      </a:r>
                      <a:endParaRPr lang="en-US" sz="1400" dirty="0">
                        <a:latin typeface="Calibri" charset="0"/>
                        <a:ea typeface="Calibri" charset="0"/>
                        <a:cs typeface="Calibri" charset="0"/>
                      </a:endParaRPr>
                    </a:p>
                  </a:txBody>
                  <a:tcPr marL="91440" marR="91440" marT="27432" marB="27432"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5EE"/>
                    </a:solidFill>
                  </a:tcPr>
                </a:tc>
                <a:tc>
                  <a:txBody>
                    <a:bodyPr/>
                    <a:lstStyle/>
                    <a:p>
                      <a:pPr indent="0" marL="0">
                        <a:buNone/>
                      </a:pPr>
                      <a:r>
                        <a:rPr lang="en-US" sz="1400" dirty="0">
                          <a:solidFill>
                            <a:srgbClr val="1B2A1F"/>
                          </a:solidFill>
                          <a:latin typeface="Calibri" pitchFamily="34" charset="0"/>
                          <a:ea typeface="Calibri" pitchFamily="34" charset="-122"/>
                          <a:cs typeface="Calibri" pitchFamily="34" charset="-120"/>
                        </a:rPr>
                        <a:t>Barley 0.94 (S1)</a:t>
                      </a:r>
                      <a:endParaRPr lang="en-US" sz="1400" dirty="0">
                        <a:latin typeface="Calibri" charset="0"/>
                        <a:ea typeface="Calibri" charset="0"/>
                        <a:cs typeface="Calibri" charset="0"/>
                      </a:endParaRPr>
                    </a:p>
                  </a:txBody>
                  <a:tcPr marL="91440" marR="91440" marT="27432" marB="27432"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5EE"/>
                    </a:solidFill>
                  </a:tcPr>
                </a:tc>
              </a:tr>
              <a:tr h="384048">
                <a:tc>
                  <a:txBody>
                    <a:bodyPr/>
                    <a:lstStyle/>
                    <a:p>
                      <a:pPr indent="0" marL="0">
                        <a:buNone/>
                      </a:pPr>
                      <a:r>
                        <a:rPr lang="en-US" sz="1400" b="1" dirty="0">
                          <a:solidFill>
                            <a:srgbClr val="1B2A1F"/>
                          </a:solidFill>
                          <a:latin typeface="Calibri" pitchFamily="34" charset="0"/>
                          <a:ea typeface="Calibri" pitchFamily="34" charset="-122"/>
                          <a:cs typeface="Calibri" pitchFamily="34" charset="-120"/>
                        </a:rPr>
                        <a:t>Nabeul</a:t>
                      </a:r>
                      <a:endParaRPr lang="en-US" sz="1400" dirty="0">
                        <a:latin typeface="Calibri" charset="0"/>
                        <a:ea typeface="Calibri" charset="0"/>
                        <a:cs typeface="Calibri" charset="0"/>
                      </a:endParaRPr>
                    </a:p>
                  </a:txBody>
                  <a:tcPr marL="91440" marR="91440" marT="27432" marB="27432"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A1F"/>
                          </a:solidFill>
                          <a:latin typeface="Calibri" pitchFamily="34" charset="0"/>
                          <a:ea typeface="Calibri" pitchFamily="34" charset="-122"/>
                          <a:cs typeface="Calibri" pitchFamily="34" charset="-120"/>
                        </a:rPr>
                        <a:t>361</a:t>
                      </a:r>
                      <a:endParaRPr lang="en-US" sz="1400" dirty="0">
                        <a:latin typeface="Calibri" charset="0"/>
                        <a:ea typeface="Calibri" charset="0"/>
                        <a:cs typeface="Calibri" charset="0"/>
                      </a:endParaRPr>
                    </a:p>
                  </a:txBody>
                  <a:tcPr marL="91440" marR="91440" marT="27432" marB="27432"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indent="0" marL="0">
                        <a:buNone/>
                      </a:pPr>
                      <a:r>
                        <a:rPr lang="en-US" sz="1400" dirty="0">
                          <a:solidFill>
                            <a:srgbClr val="1B2A1F"/>
                          </a:solidFill>
                          <a:latin typeface="Calibri" pitchFamily="34" charset="0"/>
                          <a:ea typeface="Calibri" pitchFamily="34" charset="-122"/>
                          <a:cs typeface="Calibri" pitchFamily="34" charset="-120"/>
                        </a:rPr>
                        <a:t>0.26 Semi-arid</a:t>
                      </a:r>
                      <a:endParaRPr lang="en-US" sz="1400" dirty="0">
                        <a:latin typeface="Calibri" charset="0"/>
                        <a:ea typeface="Calibri" charset="0"/>
                        <a:cs typeface="Calibri" charset="0"/>
                      </a:endParaRPr>
                    </a:p>
                  </a:txBody>
                  <a:tcPr marL="91440" marR="91440" marT="27432" marB="27432"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indent="0" marL="0">
                        <a:buNone/>
                      </a:pPr>
                      <a:r>
                        <a:rPr lang="en-US" sz="1400" dirty="0">
                          <a:solidFill>
                            <a:srgbClr val="1B2A1F"/>
                          </a:solidFill>
                          <a:latin typeface="Calibri" pitchFamily="34" charset="0"/>
                          <a:ea typeface="Calibri" pitchFamily="34" charset="-122"/>
                          <a:cs typeface="Calibri" pitchFamily="34" charset="-120"/>
                        </a:rPr>
                        <a:t>Barley 0.91 (S1)</a:t>
                      </a:r>
                      <a:endParaRPr lang="en-US" sz="1400" dirty="0">
                        <a:latin typeface="Calibri" charset="0"/>
                        <a:ea typeface="Calibri" charset="0"/>
                        <a:cs typeface="Calibri" charset="0"/>
                      </a:endParaRPr>
                    </a:p>
                  </a:txBody>
                  <a:tcPr marL="91440" marR="91440" marT="27432" marB="27432"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indent="0" marL="0">
                        <a:buNone/>
                      </a:pPr>
                      <a:r>
                        <a:rPr lang="en-US" sz="1400" b="1" dirty="0">
                          <a:solidFill>
                            <a:srgbClr val="2E7D32"/>
                          </a:solidFill>
                          <a:latin typeface="Calibri" pitchFamily="34" charset="0"/>
                          <a:ea typeface="Calibri" pitchFamily="34" charset="-122"/>
                          <a:cs typeface="Calibri" pitchFamily="34" charset="-120"/>
                        </a:rPr>
                        <a:t>Citrus 0.92 (S1)</a:t>
                      </a:r>
                      <a:endParaRPr lang="en-US" sz="1400" dirty="0">
                        <a:latin typeface="Calibri" charset="0"/>
                        <a:ea typeface="Calibri" charset="0"/>
                        <a:cs typeface="Calibri" charset="0"/>
                      </a:endParaRPr>
                    </a:p>
                  </a:txBody>
                  <a:tcPr marL="91440" marR="91440" marT="27432" marB="27432"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r>
              <a:tr h="384048">
                <a:tc>
                  <a:txBody>
                    <a:bodyPr/>
                    <a:lstStyle/>
                    <a:p>
                      <a:pPr indent="0" marL="0">
                        <a:buNone/>
                      </a:pPr>
                      <a:r>
                        <a:rPr lang="en-US" sz="1400" b="1" dirty="0">
                          <a:solidFill>
                            <a:srgbClr val="1B2A1F"/>
                          </a:solidFill>
                          <a:latin typeface="Calibri" pitchFamily="34" charset="0"/>
                          <a:ea typeface="Calibri" pitchFamily="34" charset="-122"/>
                          <a:cs typeface="Calibri" pitchFamily="34" charset="-120"/>
                        </a:rPr>
                        <a:t>Kasserine</a:t>
                      </a:r>
                      <a:endParaRPr lang="en-US" sz="1400" dirty="0">
                        <a:latin typeface="Calibri" charset="0"/>
                        <a:ea typeface="Calibri" charset="0"/>
                        <a:cs typeface="Calibri" charset="0"/>
                      </a:endParaRPr>
                    </a:p>
                  </a:txBody>
                  <a:tcPr marL="91440" marR="91440" marT="27432" marB="27432"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5EE"/>
                    </a:solidFill>
                  </a:tcPr>
                </a:tc>
                <a:tc>
                  <a:txBody>
                    <a:bodyPr/>
                    <a:lstStyle/>
                    <a:p>
                      <a:pPr algn="r" indent="0" marL="0">
                        <a:buNone/>
                      </a:pPr>
                      <a:r>
                        <a:rPr lang="en-US" sz="1400" dirty="0">
                          <a:solidFill>
                            <a:srgbClr val="1B2A1F"/>
                          </a:solidFill>
                          <a:latin typeface="Calibri" pitchFamily="34" charset="0"/>
                          <a:ea typeface="Calibri" pitchFamily="34" charset="-122"/>
                          <a:cs typeface="Calibri" pitchFamily="34" charset="-120"/>
                        </a:rPr>
                        <a:t>277</a:t>
                      </a:r>
                      <a:endParaRPr lang="en-US" sz="1400" dirty="0">
                        <a:latin typeface="Calibri" charset="0"/>
                        <a:ea typeface="Calibri" charset="0"/>
                        <a:cs typeface="Calibri" charset="0"/>
                      </a:endParaRPr>
                    </a:p>
                  </a:txBody>
                  <a:tcPr marL="91440" marR="91440" marT="27432" marB="27432"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5EE"/>
                    </a:solidFill>
                  </a:tcPr>
                </a:tc>
                <a:tc>
                  <a:txBody>
                    <a:bodyPr/>
                    <a:lstStyle/>
                    <a:p>
                      <a:pPr indent="0" marL="0">
                        <a:buNone/>
                      </a:pPr>
                      <a:r>
                        <a:rPr lang="en-US" sz="1400" dirty="0">
                          <a:solidFill>
                            <a:srgbClr val="1B2A1F"/>
                          </a:solidFill>
                          <a:latin typeface="Calibri" pitchFamily="34" charset="0"/>
                          <a:ea typeface="Calibri" pitchFamily="34" charset="-122"/>
                          <a:cs typeface="Calibri" pitchFamily="34" charset="-120"/>
                        </a:rPr>
                        <a:t>0.18 Arid</a:t>
                      </a:r>
                      <a:endParaRPr lang="en-US" sz="1400" dirty="0">
                        <a:latin typeface="Calibri" charset="0"/>
                        <a:ea typeface="Calibri" charset="0"/>
                        <a:cs typeface="Calibri" charset="0"/>
                      </a:endParaRPr>
                    </a:p>
                  </a:txBody>
                  <a:tcPr marL="91440" marR="91440" marT="27432" marB="27432"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5EE"/>
                    </a:solidFill>
                  </a:tcPr>
                </a:tc>
                <a:tc>
                  <a:txBody>
                    <a:bodyPr/>
                    <a:lstStyle/>
                    <a:p>
                      <a:pPr indent="0" marL="0">
                        <a:buNone/>
                      </a:pPr>
                      <a:r>
                        <a:rPr lang="en-US" sz="1400" b="1" dirty="0">
                          <a:solidFill>
                            <a:srgbClr val="2E7D32"/>
                          </a:solidFill>
                          <a:latin typeface="Calibri" pitchFamily="34" charset="0"/>
                          <a:ea typeface="Calibri" pitchFamily="34" charset="-122"/>
                          <a:cs typeface="Calibri" pitchFamily="34" charset="-120"/>
                        </a:rPr>
                        <a:t>Pistachio 0.96 (S1)</a:t>
                      </a:r>
                      <a:endParaRPr lang="en-US" sz="1400" dirty="0">
                        <a:latin typeface="Calibri" charset="0"/>
                        <a:ea typeface="Calibri" charset="0"/>
                        <a:cs typeface="Calibri" charset="0"/>
                      </a:endParaRPr>
                    </a:p>
                  </a:txBody>
                  <a:tcPr marL="91440" marR="91440" marT="27432" marB="27432"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5EE"/>
                    </a:solidFill>
                  </a:tcPr>
                </a:tc>
                <a:tc>
                  <a:txBody>
                    <a:bodyPr/>
                    <a:lstStyle/>
                    <a:p>
                      <a:pPr indent="0" marL="0">
                        <a:buNone/>
                      </a:pPr>
                      <a:r>
                        <a:rPr lang="en-US" sz="1400" dirty="0">
                          <a:solidFill>
                            <a:srgbClr val="1B2A1F"/>
                          </a:solidFill>
                          <a:latin typeface="Calibri" pitchFamily="34" charset="0"/>
                          <a:ea typeface="Calibri" pitchFamily="34" charset="-122"/>
                          <a:cs typeface="Calibri" pitchFamily="34" charset="-120"/>
                        </a:rPr>
                        <a:t>Pistachio 0.96 (S1)</a:t>
                      </a:r>
                      <a:endParaRPr lang="en-US" sz="1400" dirty="0">
                        <a:latin typeface="Calibri" charset="0"/>
                        <a:ea typeface="Calibri" charset="0"/>
                        <a:cs typeface="Calibri" charset="0"/>
                      </a:endParaRPr>
                    </a:p>
                  </a:txBody>
                  <a:tcPr marL="91440" marR="91440" marT="27432" marB="27432"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5EE"/>
                    </a:solidFill>
                  </a:tcPr>
                </a:tc>
              </a:tr>
              <a:tr h="384048">
                <a:tc>
                  <a:txBody>
                    <a:bodyPr/>
                    <a:lstStyle/>
                    <a:p>
                      <a:pPr indent="0" marL="0">
                        <a:buNone/>
                      </a:pPr>
                      <a:r>
                        <a:rPr lang="en-US" sz="1400" b="1" dirty="0">
                          <a:solidFill>
                            <a:srgbClr val="1B2A1F"/>
                          </a:solidFill>
                          <a:latin typeface="Calibri" pitchFamily="34" charset="0"/>
                          <a:ea typeface="Calibri" pitchFamily="34" charset="-122"/>
                          <a:cs typeface="Calibri" pitchFamily="34" charset="-120"/>
                        </a:rPr>
                        <a:t>Kairouan</a:t>
                      </a:r>
                      <a:endParaRPr lang="en-US" sz="1400" dirty="0">
                        <a:latin typeface="Calibri" charset="0"/>
                        <a:ea typeface="Calibri" charset="0"/>
                        <a:cs typeface="Calibri" charset="0"/>
                      </a:endParaRPr>
                    </a:p>
                  </a:txBody>
                  <a:tcPr marL="91440" marR="91440" marT="27432" marB="27432"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A1F"/>
                          </a:solidFill>
                          <a:latin typeface="Calibri" pitchFamily="34" charset="0"/>
                          <a:ea typeface="Calibri" pitchFamily="34" charset="-122"/>
                          <a:cs typeface="Calibri" pitchFamily="34" charset="-120"/>
                        </a:rPr>
                        <a:t>276</a:t>
                      </a:r>
                      <a:endParaRPr lang="en-US" sz="1400" dirty="0">
                        <a:latin typeface="Calibri" charset="0"/>
                        <a:ea typeface="Calibri" charset="0"/>
                        <a:cs typeface="Calibri" charset="0"/>
                      </a:endParaRPr>
                    </a:p>
                  </a:txBody>
                  <a:tcPr marL="91440" marR="91440" marT="27432" marB="27432"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indent="0" marL="0">
                        <a:buNone/>
                      </a:pPr>
                      <a:r>
                        <a:rPr lang="en-US" sz="1400" dirty="0">
                          <a:solidFill>
                            <a:srgbClr val="1B2A1F"/>
                          </a:solidFill>
                          <a:latin typeface="Calibri" pitchFamily="34" charset="0"/>
                          <a:ea typeface="Calibri" pitchFamily="34" charset="-122"/>
                          <a:cs typeface="Calibri" pitchFamily="34" charset="-120"/>
                        </a:rPr>
                        <a:t>0.17 Arid</a:t>
                      </a:r>
                      <a:endParaRPr lang="en-US" sz="1400" dirty="0">
                        <a:latin typeface="Calibri" charset="0"/>
                        <a:ea typeface="Calibri" charset="0"/>
                        <a:cs typeface="Calibri" charset="0"/>
                      </a:endParaRPr>
                    </a:p>
                  </a:txBody>
                  <a:tcPr marL="91440" marR="91440" marT="27432" marB="27432"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indent="0" marL="0">
                        <a:buNone/>
                      </a:pPr>
                      <a:r>
                        <a:rPr lang="en-US" sz="1400" dirty="0">
                          <a:solidFill>
                            <a:srgbClr val="1B2A1F"/>
                          </a:solidFill>
                          <a:latin typeface="Calibri" pitchFamily="34" charset="0"/>
                          <a:ea typeface="Calibri" pitchFamily="34" charset="-122"/>
                          <a:cs typeface="Calibri" pitchFamily="34" charset="-120"/>
                        </a:rPr>
                        <a:t>Barley 0.88 (S1)</a:t>
                      </a:r>
                      <a:endParaRPr lang="en-US" sz="1400" dirty="0">
                        <a:latin typeface="Calibri" charset="0"/>
                        <a:ea typeface="Calibri" charset="0"/>
                        <a:cs typeface="Calibri" charset="0"/>
                      </a:endParaRPr>
                    </a:p>
                  </a:txBody>
                  <a:tcPr marL="91440" marR="91440" marT="27432" marB="27432"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indent="0" marL="0">
                        <a:buNone/>
                      </a:pPr>
                      <a:r>
                        <a:rPr lang="en-US" sz="1400" dirty="0">
                          <a:solidFill>
                            <a:srgbClr val="1B2A1F"/>
                          </a:solidFill>
                          <a:latin typeface="Calibri" pitchFamily="34" charset="0"/>
                          <a:ea typeface="Calibri" pitchFamily="34" charset="-122"/>
                          <a:cs typeface="Calibri" pitchFamily="34" charset="-120"/>
                        </a:rPr>
                        <a:t>Barley 0.89 (S1)</a:t>
                      </a:r>
                      <a:endParaRPr lang="en-US" sz="1400" dirty="0">
                        <a:latin typeface="Calibri" charset="0"/>
                        <a:ea typeface="Calibri" charset="0"/>
                        <a:cs typeface="Calibri" charset="0"/>
                      </a:endParaRPr>
                    </a:p>
                  </a:txBody>
                  <a:tcPr marL="91440" marR="91440" marT="27432" marB="27432"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r>
              <a:tr h="384048">
                <a:tc>
                  <a:txBody>
                    <a:bodyPr/>
                    <a:lstStyle/>
                    <a:p>
                      <a:pPr indent="0" marL="0">
                        <a:buNone/>
                      </a:pPr>
                      <a:r>
                        <a:rPr lang="en-US" sz="1400" b="1" dirty="0">
                          <a:solidFill>
                            <a:srgbClr val="1B2A1F"/>
                          </a:solidFill>
                          <a:latin typeface="Calibri" pitchFamily="34" charset="0"/>
                          <a:ea typeface="Calibri" pitchFamily="34" charset="-122"/>
                          <a:cs typeface="Calibri" pitchFamily="34" charset="-120"/>
                        </a:rPr>
                        <a:t>Sfax</a:t>
                      </a:r>
                      <a:endParaRPr lang="en-US" sz="1400" dirty="0">
                        <a:latin typeface="Calibri" charset="0"/>
                        <a:ea typeface="Calibri" charset="0"/>
                        <a:cs typeface="Calibri" charset="0"/>
                      </a:endParaRPr>
                    </a:p>
                  </a:txBody>
                  <a:tcPr marL="91440" marR="91440" marT="27432" marB="27432"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5EE"/>
                    </a:solidFill>
                  </a:tcPr>
                </a:tc>
                <a:tc>
                  <a:txBody>
                    <a:bodyPr/>
                    <a:lstStyle/>
                    <a:p>
                      <a:pPr algn="r" indent="0" marL="0">
                        <a:buNone/>
                      </a:pPr>
                      <a:r>
                        <a:rPr lang="en-US" sz="1400" dirty="0">
                          <a:solidFill>
                            <a:srgbClr val="1B2A1F"/>
                          </a:solidFill>
                          <a:latin typeface="Calibri" pitchFamily="34" charset="0"/>
                          <a:ea typeface="Calibri" pitchFamily="34" charset="-122"/>
                          <a:cs typeface="Calibri" pitchFamily="34" charset="-120"/>
                        </a:rPr>
                        <a:t>204</a:t>
                      </a:r>
                      <a:endParaRPr lang="en-US" sz="1400" dirty="0">
                        <a:latin typeface="Calibri" charset="0"/>
                        <a:ea typeface="Calibri" charset="0"/>
                        <a:cs typeface="Calibri" charset="0"/>
                      </a:endParaRPr>
                    </a:p>
                  </a:txBody>
                  <a:tcPr marL="91440" marR="91440" marT="27432" marB="27432"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5EE"/>
                    </a:solidFill>
                  </a:tcPr>
                </a:tc>
                <a:tc>
                  <a:txBody>
                    <a:bodyPr/>
                    <a:lstStyle/>
                    <a:p>
                      <a:pPr indent="0" marL="0">
                        <a:buNone/>
                      </a:pPr>
                      <a:r>
                        <a:rPr lang="en-US" sz="1400" dirty="0">
                          <a:solidFill>
                            <a:srgbClr val="1B2A1F"/>
                          </a:solidFill>
                          <a:latin typeface="Calibri" pitchFamily="34" charset="0"/>
                          <a:ea typeface="Calibri" pitchFamily="34" charset="-122"/>
                          <a:cs typeface="Calibri" pitchFamily="34" charset="-120"/>
                        </a:rPr>
                        <a:t>0.12 Arid</a:t>
                      </a:r>
                      <a:endParaRPr lang="en-US" sz="1400" dirty="0">
                        <a:latin typeface="Calibri" charset="0"/>
                        <a:ea typeface="Calibri" charset="0"/>
                        <a:cs typeface="Calibri" charset="0"/>
                      </a:endParaRPr>
                    </a:p>
                  </a:txBody>
                  <a:tcPr marL="91440" marR="91440" marT="27432" marB="27432"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5EE"/>
                    </a:solidFill>
                  </a:tcPr>
                </a:tc>
                <a:tc>
                  <a:txBody>
                    <a:bodyPr/>
                    <a:lstStyle/>
                    <a:p>
                      <a:pPr indent="0" marL="0">
                        <a:buNone/>
                      </a:pPr>
                      <a:r>
                        <a:rPr lang="en-US" sz="1400" b="1" dirty="0">
                          <a:solidFill>
                            <a:srgbClr val="2E7D32"/>
                          </a:solidFill>
                          <a:latin typeface="Calibri" pitchFamily="34" charset="0"/>
                          <a:ea typeface="Calibri" pitchFamily="34" charset="-122"/>
                          <a:cs typeface="Calibri" pitchFamily="34" charset="-120"/>
                        </a:rPr>
                        <a:t>Olive 0.73 (S2)</a:t>
                      </a:r>
                      <a:endParaRPr lang="en-US" sz="1400" dirty="0">
                        <a:latin typeface="Calibri" charset="0"/>
                        <a:ea typeface="Calibri" charset="0"/>
                        <a:cs typeface="Calibri" charset="0"/>
                      </a:endParaRPr>
                    </a:p>
                  </a:txBody>
                  <a:tcPr marL="91440" marR="91440" marT="27432" marB="27432"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5EE"/>
                    </a:solidFill>
                  </a:tcPr>
                </a:tc>
                <a:tc>
                  <a:txBody>
                    <a:bodyPr/>
                    <a:lstStyle/>
                    <a:p>
                      <a:pPr indent="0" marL="0">
                        <a:buNone/>
                      </a:pPr>
                      <a:r>
                        <a:rPr lang="en-US" sz="1400" dirty="0">
                          <a:solidFill>
                            <a:srgbClr val="1B2A1F"/>
                          </a:solidFill>
                          <a:latin typeface="Calibri" pitchFamily="34" charset="0"/>
                          <a:ea typeface="Calibri" pitchFamily="34" charset="-122"/>
                          <a:cs typeface="Calibri" pitchFamily="34" charset="-120"/>
                        </a:rPr>
                        <a:t>Fig 0.88 (S1)</a:t>
                      </a:r>
                      <a:endParaRPr lang="en-US" sz="1400" dirty="0">
                        <a:latin typeface="Calibri" charset="0"/>
                        <a:ea typeface="Calibri" charset="0"/>
                        <a:cs typeface="Calibri" charset="0"/>
                      </a:endParaRPr>
                    </a:p>
                  </a:txBody>
                  <a:tcPr marL="91440" marR="91440" marT="27432" marB="27432"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EEF5EE"/>
                    </a:solidFill>
                  </a:tcPr>
                </a:tc>
              </a:tr>
              <a:tr h="384048">
                <a:tc>
                  <a:txBody>
                    <a:bodyPr/>
                    <a:lstStyle/>
                    <a:p>
                      <a:pPr indent="0" marL="0">
                        <a:buNone/>
                      </a:pPr>
                      <a:r>
                        <a:rPr lang="en-US" sz="1400" b="1" dirty="0">
                          <a:solidFill>
                            <a:srgbClr val="1B2A1F"/>
                          </a:solidFill>
                          <a:latin typeface="Calibri" pitchFamily="34" charset="0"/>
                          <a:ea typeface="Calibri" pitchFamily="34" charset="-122"/>
                          <a:cs typeface="Calibri" pitchFamily="34" charset="-120"/>
                        </a:rPr>
                        <a:t>Tozeur</a:t>
                      </a:r>
                      <a:endParaRPr lang="en-US" sz="1400" dirty="0">
                        <a:latin typeface="Calibri" charset="0"/>
                        <a:ea typeface="Calibri" charset="0"/>
                        <a:cs typeface="Calibri" charset="0"/>
                      </a:endParaRPr>
                    </a:p>
                  </a:txBody>
                  <a:tcPr marL="91440" marR="91440" marT="27432" marB="27432"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B2A1F"/>
                          </a:solidFill>
                          <a:latin typeface="Calibri" pitchFamily="34" charset="0"/>
                          <a:ea typeface="Calibri" pitchFamily="34" charset="-122"/>
                          <a:cs typeface="Calibri" pitchFamily="34" charset="-120"/>
                        </a:rPr>
                        <a:t>85</a:t>
                      </a:r>
                      <a:endParaRPr lang="en-US" sz="1400" dirty="0">
                        <a:latin typeface="Calibri" charset="0"/>
                        <a:ea typeface="Calibri" charset="0"/>
                        <a:cs typeface="Calibri" charset="0"/>
                      </a:endParaRPr>
                    </a:p>
                  </a:txBody>
                  <a:tcPr marL="91440" marR="91440" marT="27432" marB="27432"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indent="0" marL="0">
                        <a:buNone/>
                      </a:pPr>
                      <a:r>
                        <a:rPr lang="en-US" sz="1400" dirty="0">
                          <a:solidFill>
                            <a:srgbClr val="1B2A1F"/>
                          </a:solidFill>
                          <a:latin typeface="Calibri" pitchFamily="34" charset="0"/>
                          <a:ea typeface="Calibri" pitchFamily="34" charset="-122"/>
                          <a:cs typeface="Calibri" pitchFamily="34" charset="-120"/>
                        </a:rPr>
                        <a:t>0.04 Hyper-arid</a:t>
                      </a:r>
                      <a:endParaRPr lang="en-US" sz="1400" dirty="0">
                        <a:latin typeface="Calibri" charset="0"/>
                        <a:ea typeface="Calibri" charset="0"/>
                        <a:cs typeface="Calibri" charset="0"/>
                      </a:endParaRPr>
                    </a:p>
                  </a:txBody>
                  <a:tcPr marL="91440" marR="91440" marT="27432" marB="27432"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indent="0" marL="0">
                        <a:buNone/>
                      </a:pPr>
                      <a:r>
                        <a:rPr lang="en-US" sz="1400" b="1" dirty="0">
                          <a:solidFill>
                            <a:srgbClr val="2E7D32"/>
                          </a:solidFill>
                          <a:latin typeface="Calibri" pitchFamily="34" charset="0"/>
                          <a:ea typeface="Calibri" pitchFamily="34" charset="-122"/>
                          <a:cs typeface="Calibri" pitchFamily="34" charset="-120"/>
                        </a:rPr>
                        <a:t>Date palm 0.92 (S1)</a:t>
                      </a:r>
                      <a:endParaRPr lang="en-US" sz="1400" dirty="0">
                        <a:latin typeface="Calibri" charset="0"/>
                        <a:ea typeface="Calibri" charset="0"/>
                        <a:cs typeface="Calibri" charset="0"/>
                      </a:endParaRPr>
                    </a:p>
                  </a:txBody>
                  <a:tcPr marL="91440" marR="91440" marT="27432" marB="27432"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c>
                  <a:txBody>
                    <a:bodyPr/>
                    <a:lstStyle/>
                    <a:p>
                      <a:pPr indent="0" marL="0">
                        <a:buNone/>
                      </a:pPr>
                      <a:r>
                        <a:rPr lang="en-US" sz="1400" dirty="0">
                          <a:solidFill>
                            <a:srgbClr val="1B2A1F"/>
                          </a:solidFill>
                          <a:latin typeface="Calibri" pitchFamily="34" charset="0"/>
                          <a:ea typeface="Calibri" pitchFamily="34" charset="-122"/>
                          <a:cs typeface="Calibri" pitchFamily="34" charset="-120"/>
                        </a:rPr>
                        <a:t>Date palm 0.92 (S1)</a:t>
                      </a:r>
                      <a:endParaRPr lang="en-US" sz="1400" dirty="0">
                        <a:latin typeface="Calibri" charset="0"/>
                        <a:ea typeface="Calibri" charset="0"/>
                        <a:cs typeface="Calibri" charset="0"/>
                      </a:endParaRPr>
                    </a:p>
                  </a:txBody>
                  <a:tcPr marL="91440" marR="91440" marT="27432" marB="27432" anchor="ctr">
                    <a:lnL w="6350" cap="flat" cmpd="sng" algn="ctr">
                      <a:solidFill>
                        <a:srgbClr val="D5DED7"/>
                      </a:solidFill>
                      <a:prstDash val="solid"/>
                      <a:round/>
                      <a:headEnd type="none" w="med" len="med"/>
                      <a:tailEnd type="none" w="med" len="med"/>
                    </a:lnL>
                    <a:lnR w="6350" cap="flat" cmpd="sng" algn="ctr">
                      <a:solidFill>
                        <a:srgbClr val="D5DED7"/>
                      </a:solidFill>
                      <a:prstDash val="solid"/>
                      <a:round/>
                      <a:headEnd type="none" w="med" len="med"/>
                      <a:tailEnd type="none" w="med" len="med"/>
                    </a:lnR>
                    <a:lnT w="6350" cap="flat" cmpd="sng" algn="ctr">
                      <a:solidFill>
                        <a:srgbClr val="D5DED7"/>
                      </a:solidFill>
                      <a:prstDash val="solid"/>
                      <a:round/>
                      <a:headEnd type="none" w="med" len="med"/>
                      <a:tailEnd type="none" w="med" len="med"/>
                    </a:lnT>
                    <a:lnB w="6350" cap="flat" cmpd="sng" algn="ctr">
                      <a:solidFill>
                        <a:srgbClr val="D5DED7"/>
                      </a:solidFill>
                      <a:prstDash val="solid"/>
                      <a:round/>
                      <a:headEnd type="none" w="med" len="med"/>
                      <a:tailEnd type="none" w="med" len="med"/>
                    </a:lnB>
                    <a:solidFill>
                      <a:srgbClr val="FFFFFF"/>
                    </a:solidFill>
                  </a:tcPr>
                </a:tc>
              </a:tr>
            </a:tbl>
          </a:graphicData>
        </a:graphic>
      </p:graphicFrame>
      <p:sp>
        <p:nvSpPr>
          <p:cNvPr id="4" name="results takeaway"/>
          <p:cNvSpPr txBox="1"/>
          <p:nvPr/>
        </p:nvSpPr>
        <p:spPr>
          <a:xfrm>
            <a:off x="548640" y="5349240"/>
            <a:ext cx="11094415" cy="731520"/>
          </a:xfrm>
          <a:prstGeom prst="rect">
            <a:avLst/>
          </a:prstGeom>
          <a:noFill/>
          <a:ln/>
        </p:spPr>
        <p:txBody>
          <a:bodyPr wrap="square" lIns="0" tIns="0" rIns="0" bIns="0" rtlCol="0" anchor="ctr"/>
          <a:lstStyle/>
          <a:p>
            <a:pPr indent="0" marL="0">
              <a:buNone/>
            </a:pPr>
            <a:r>
              <a:rPr lang="en-US" sz="1500" i="1" dirty="0">
                <a:solidFill>
                  <a:schemeClr val="tx1"/>
                </a:solidFill>
              </a:rPr>
              <a:t>Citrus in irrigated Cap Bon, olive around Sfax, pistachio in Kasserine and date palm in the Djerid oases: the model reproduces the known crop map without site-specific rules.</a:t>
            </a:r>
            <a:endParaRPr lang="en-US" sz="1500" dirty="0"/>
          </a:p>
        </p:txBody>
      </p:sp>
      <p:sp>
        <p:nvSpPr>
          <p:cNvPr id="25" name="Slide Number Placeholder 0"/>
          <p:cNvSpPr>
            <a:spLocks noGrp="1"/>
          </p:cNvSpPr>
          <p:nvPr>
            <p:ph type="sldNum" sz="quarter" idx="4294967295"/>
          </p:nvPr>
        </p:nvSpPr>
        <p:spPr>
          <a:xfrm>
            <a:off x="1109441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Irrigation widens the choice most in the arid south</a:t>
            </a:r>
            <a:endParaRPr lang="en-US" sz="3200" dirty="0"/>
          </a:p>
        </p:txBody>
      </p:sp>
      <p:graphicFrame>
        <p:nvGraphicFramePr>
          <p:cNvPr id="3" name="irrigation chart" descr=""/>
          <p:cNvGraphicFramePr/>
          <p:nvPr/>
        </p:nvGraphicFramePr>
        <p:xfrm>
          <a:off x="548640" y="1325880"/>
          <a:ext cx="7863840" cy="4663440"/>
        </p:xfrm>
        <a:graphic xmlns:a="http://schemas.openxmlformats.org/drawingml/2006/main">
          <a:graphicData uri="http://schemas.openxmlformats.org/drawingml/2006/chart">
            <c:chart xmlns:c="http://schemas.openxmlformats.org/drawingml/2006/chart" r:id="rId1"/>
          </a:graphicData>
        </a:graphic>
      </p:graphicFrame>
      <p:sp>
        <p:nvSpPr>
          <p:cNvPr id="4" name="Tozeur callout"/>
          <p:cNvSpPr/>
          <p:nvPr/>
        </p:nvSpPr>
        <p:spPr>
          <a:xfrm>
            <a:off x="8778240" y="1463040"/>
            <a:ext cx="2880360" cy="2011680"/>
          </a:xfrm>
          <a:prstGeom prst="roundRect">
            <a:avLst>
              <a:gd name="adj" fmla="val 5455"/>
            </a:avLst>
          </a:prstGeom>
          <a:solidFill>
            <a:schemeClr val="bg2"/>
          </a:solidFill>
          <a:ln/>
        </p:spPr>
      </p:sp>
      <p:sp>
        <p:nvSpPr>
          <p:cNvPr id="5" name="Tozeur stat"/>
          <p:cNvSpPr txBox="1"/>
          <p:nvPr/>
        </p:nvSpPr>
        <p:spPr>
          <a:xfrm>
            <a:off x="9006840" y="1554480"/>
            <a:ext cx="2468880" cy="1828800"/>
          </a:xfrm>
          <a:prstGeom prst="rect">
            <a:avLst/>
          </a:prstGeom>
          <a:noFill/>
          <a:ln/>
        </p:spPr>
        <p:txBody>
          <a:bodyPr wrap="square" lIns="0" tIns="0" rIns="0" bIns="0" rtlCol="0" anchor="ctr"/>
          <a:lstStyle/>
          <a:p>
            <a:pPr indent="0" marL="0">
              <a:buNone/>
            </a:pPr>
            <a:r>
              <a:rPr lang="en-US" sz="4000" b="1" dirty="0">
                <a:solidFill>
                  <a:schemeClr val="accent1"/>
                </a:solidFill>
              </a:rPr>
              <a:t>1 → 7</a:t>
            </a:r>
            <a:endParaRPr lang="en-US" sz="4000" dirty="0"/>
          </a:p>
          <a:p>
            <a:pPr indent="0" marL="0">
              <a:buNone/>
            </a:pPr>
            <a:r>
              <a:rPr lang="en-US" sz="1400" dirty="0">
                <a:solidFill>
                  <a:schemeClr val="tx1"/>
                </a:solidFill>
              </a:rPr>
              <a:t>suitable crops at Tozeur (85 mm) once irrigated</a:t>
            </a:r>
            <a:endParaRPr lang="en-US" sz="4000" dirty="0"/>
          </a:p>
        </p:txBody>
      </p:sp>
      <p:sp>
        <p:nvSpPr>
          <p:cNvPr id="6" name="Sfax callout"/>
          <p:cNvSpPr/>
          <p:nvPr/>
        </p:nvSpPr>
        <p:spPr>
          <a:xfrm>
            <a:off x="8778240" y="3657600"/>
            <a:ext cx="2880360" cy="2011680"/>
          </a:xfrm>
          <a:prstGeom prst="roundRect">
            <a:avLst>
              <a:gd name="adj" fmla="val 5455"/>
            </a:avLst>
          </a:prstGeom>
          <a:solidFill>
            <a:schemeClr val="bg2"/>
          </a:solidFill>
          <a:ln/>
        </p:spPr>
      </p:sp>
      <p:sp>
        <p:nvSpPr>
          <p:cNvPr id="7" name="Sfax stat"/>
          <p:cNvSpPr txBox="1"/>
          <p:nvPr/>
        </p:nvSpPr>
        <p:spPr>
          <a:xfrm>
            <a:off x="9006840" y="3749040"/>
            <a:ext cx="2468880" cy="1828800"/>
          </a:xfrm>
          <a:prstGeom prst="rect">
            <a:avLst/>
          </a:prstGeom>
          <a:noFill/>
          <a:ln/>
        </p:spPr>
        <p:txBody>
          <a:bodyPr wrap="square" lIns="0" tIns="0" rIns="0" bIns="0" rtlCol="0" anchor="ctr"/>
          <a:lstStyle/>
          <a:p>
            <a:pPr indent="0" marL="0">
              <a:buNone/>
            </a:pPr>
            <a:r>
              <a:rPr lang="en-US" sz="4000" b="1" dirty="0">
                <a:solidFill>
                  <a:schemeClr val="accent1"/>
                </a:solidFill>
              </a:rPr>
              <a:t>4 → 12</a:t>
            </a:r>
            <a:endParaRPr lang="en-US" sz="4000" dirty="0"/>
          </a:p>
          <a:p>
            <a:pPr indent="0" marL="0">
              <a:buNone/>
            </a:pPr>
            <a:r>
              <a:rPr lang="en-US" sz="1400" dirty="0">
                <a:solidFill>
                  <a:schemeClr val="tx1"/>
                </a:solidFill>
              </a:rPr>
              <a:t>suitable crops at Sfax (204 mm); the north barely changes</a:t>
            </a:r>
            <a:endParaRPr lang="en-US" sz="4000" dirty="0"/>
          </a:p>
        </p:txBody>
      </p:sp>
      <p:sp>
        <p:nvSpPr>
          <p:cNvPr id="25" name="Slide Number Placeholder 0"/>
          <p:cNvSpPr>
            <a:spLocks noGrp="1"/>
          </p:cNvSpPr>
          <p:nvPr>
            <p:ph type="sldNum" sz="quarter" idx="4294967295"/>
          </p:nvPr>
        </p:nvSpPr>
        <p:spPr>
          <a:xfrm>
            <a:off x="1109441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Engineered like a product, not a notebook</a:t>
            </a:r>
            <a:endParaRPr lang="en-US" sz="3200" dirty="0"/>
          </a:p>
        </p:txBody>
      </p:sp>
      <p:sp>
        <p:nvSpPr>
          <p:cNvPr id="3" name="stat 1"/>
          <p:cNvSpPr/>
          <p:nvPr/>
        </p:nvSpPr>
        <p:spPr>
          <a:xfrm>
            <a:off x="548640" y="1417320"/>
            <a:ext cx="2606040" cy="2514600"/>
          </a:xfrm>
          <a:prstGeom prst="roundRect">
            <a:avLst>
              <a:gd name="adj" fmla="val 4364"/>
            </a:avLst>
          </a:prstGeom>
          <a:solidFill>
            <a:schemeClr val="bg2"/>
          </a:solidFill>
          <a:ln/>
        </p:spPr>
      </p:sp>
      <p:sp>
        <p:nvSpPr>
          <p:cNvPr id="4" name="stat 1 circle"/>
          <p:cNvSpPr/>
          <p:nvPr/>
        </p:nvSpPr>
        <p:spPr>
          <a:xfrm>
            <a:off x="822960" y="1645920"/>
            <a:ext cx="640080" cy="640080"/>
          </a:xfrm>
          <a:prstGeom prst="ellipse">
            <a:avLst/>
          </a:prstGeom>
          <a:solidFill>
            <a:srgbClr val="2E7D32"/>
          </a:solidFill>
          <a:ln/>
        </p:spPr>
      </p:sp>
      <p:pic>
        <p:nvPicPr>
          <p:cNvPr id="5" name="stat 1 icon" descr="stat 1">    </p:cNvPr>
          <p:cNvPicPr>
            <a:picLocks noChangeAspect="1"/>
          </p:cNvPicPr>
          <p:nvPr/>
        </p:nvPicPr>
        <p:blipFill>
          <a:blip r:embed="rId1"/>
          <a:stretch>
            <a:fillRect/>
          </a:stretch>
        </p:blipFill>
        <p:spPr>
          <a:xfrm>
            <a:off x="976579" y="1799539"/>
            <a:ext cx="332842" cy="332842"/>
          </a:xfrm>
          <a:prstGeom prst="rect">
            <a:avLst/>
          </a:prstGeom>
        </p:spPr>
      </p:pic>
      <p:sp>
        <p:nvSpPr>
          <p:cNvPr id="6" name="stat 1 text"/>
          <p:cNvSpPr txBox="1"/>
          <p:nvPr/>
        </p:nvSpPr>
        <p:spPr>
          <a:xfrm>
            <a:off x="822960" y="2331720"/>
            <a:ext cx="2057400" cy="1463040"/>
          </a:xfrm>
          <a:prstGeom prst="rect">
            <a:avLst/>
          </a:prstGeom>
          <a:noFill/>
          <a:ln/>
        </p:spPr>
        <p:txBody>
          <a:bodyPr wrap="square" lIns="0" tIns="0" rIns="0" bIns="0" rtlCol="0" anchor="t"/>
          <a:lstStyle/>
          <a:p>
            <a:pPr indent="0" marL="0">
              <a:buNone/>
            </a:pPr>
            <a:r>
              <a:rPr lang="en-US" sz="5400" b="1" dirty="0">
                <a:solidFill>
                  <a:schemeClr val="tx2"/>
                </a:solidFill>
              </a:rPr>
              <a:t>13</a:t>
            </a:r>
            <a:endParaRPr lang="en-US" sz="5400" dirty="0"/>
          </a:p>
          <a:p>
            <a:pPr indent="0" marL="0">
              <a:buNone/>
            </a:pPr>
            <a:r>
              <a:rPr lang="en-US" sz="1600" dirty="0">
                <a:solidFill>
                  <a:schemeClr val="tx1"/>
                </a:solidFill>
              </a:rPr>
              <a:t>crops</a:t>
            </a:r>
            <a:endParaRPr lang="en-US" sz="5400" dirty="0"/>
          </a:p>
        </p:txBody>
      </p:sp>
      <p:sp>
        <p:nvSpPr>
          <p:cNvPr id="7" name="stat 2"/>
          <p:cNvSpPr/>
          <p:nvPr/>
        </p:nvSpPr>
        <p:spPr>
          <a:xfrm>
            <a:off x="3364992" y="1417320"/>
            <a:ext cx="2606040" cy="2514600"/>
          </a:xfrm>
          <a:prstGeom prst="roundRect">
            <a:avLst>
              <a:gd name="adj" fmla="val 4364"/>
            </a:avLst>
          </a:prstGeom>
          <a:solidFill>
            <a:schemeClr val="bg2"/>
          </a:solidFill>
          <a:ln/>
        </p:spPr>
      </p:sp>
      <p:sp>
        <p:nvSpPr>
          <p:cNvPr id="8" name="stat 2 circle"/>
          <p:cNvSpPr/>
          <p:nvPr/>
        </p:nvSpPr>
        <p:spPr>
          <a:xfrm>
            <a:off x="3639312" y="1645920"/>
            <a:ext cx="640080" cy="640080"/>
          </a:xfrm>
          <a:prstGeom prst="ellipse">
            <a:avLst/>
          </a:prstGeom>
          <a:solidFill>
            <a:srgbClr val="2E7D32"/>
          </a:solidFill>
          <a:ln/>
        </p:spPr>
      </p:sp>
      <p:pic>
        <p:nvPicPr>
          <p:cNvPr id="9" name="stat 2 icon" descr="stat 2">    </p:cNvPr>
          <p:cNvPicPr>
            <a:picLocks noChangeAspect="1"/>
          </p:cNvPicPr>
          <p:nvPr/>
        </p:nvPicPr>
        <p:blipFill>
          <a:blip r:embed="rId2"/>
          <a:stretch>
            <a:fillRect/>
          </a:stretch>
        </p:blipFill>
        <p:spPr>
          <a:xfrm>
            <a:off x="3792931" y="1799539"/>
            <a:ext cx="332842" cy="332842"/>
          </a:xfrm>
          <a:prstGeom prst="rect">
            <a:avLst/>
          </a:prstGeom>
        </p:spPr>
      </p:pic>
      <p:sp>
        <p:nvSpPr>
          <p:cNvPr id="10" name="stat 2 text"/>
          <p:cNvSpPr txBox="1"/>
          <p:nvPr/>
        </p:nvSpPr>
        <p:spPr>
          <a:xfrm>
            <a:off x="3639312" y="2331720"/>
            <a:ext cx="2057400" cy="1463040"/>
          </a:xfrm>
          <a:prstGeom prst="rect">
            <a:avLst/>
          </a:prstGeom>
          <a:noFill/>
          <a:ln/>
        </p:spPr>
        <p:txBody>
          <a:bodyPr wrap="square" lIns="0" tIns="0" rIns="0" bIns="0" rtlCol="0" anchor="t"/>
          <a:lstStyle/>
          <a:p>
            <a:pPr indent="0" marL="0">
              <a:buNone/>
            </a:pPr>
            <a:r>
              <a:rPr lang="en-US" sz="5400" b="1" dirty="0">
                <a:solidFill>
                  <a:schemeClr val="tx2"/>
                </a:solidFill>
              </a:rPr>
              <a:t>7</a:t>
            </a:r>
            <a:endParaRPr lang="en-US" sz="5400" dirty="0"/>
          </a:p>
          <a:p>
            <a:pPr indent="0" marL="0">
              <a:buNone/>
            </a:pPr>
            <a:r>
              <a:rPr lang="en-US" sz="1600" dirty="0">
                <a:solidFill>
                  <a:schemeClr val="tx1"/>
                </a:solidFill>
              </a:rPr>
              <a:t>factors per crop</a:t>
            </a:r>
            <a:endParaRPr lang="en-US" sz="5400" dirty="0"/>
          </a:p>
        </p:txBody>
      </p:sp>
      <p:sp>
        <p:nvSpPr>
          <p:cNvPr id="11" name="stat 3"/>
          <p:cNvSpPr/>
          <p:nvPr/>
        </p:nvSpPr>
        <p:spPr>
          <a:xfrm>
            <a:off x="6181344" y="1417320"/>
            <a:ext cx="2606040" cy="2514600"/>
          </a:xfrm>
          <a:prstGeom prst="roundRect">
            <a:avLst>
              <a:gd name="adj" fmla="val 4364"/>
            </a:avLst>
          </a:prstGeom>
          <a:solidFill>
            <a:schemeClr val="bg2"/>
          </a:solidFill>
          <a:ln/>
        </p:spPr>
      </p:sp>
      <p:sp>
        <p:nvSpPr>
          <p:cNvPr id="12" name="stat 3 circle"/>
          <p:cNvSpPr/>
          <p:nvPr/>
        </p:nvSpPr>
        <p:spPr>
          <a:xfrm>
            <a:off x="6455664" y="1645920"/>
            <a:ext cx="640080" cy="640080"/>
          </a:xfrm>
          <a:prstGeom prst="ellipse">
            <a:avLst/>
          </a:prstGeom>
          <a:solidFill>
            <a:srgbClr val="2E7D32"/>
          </a:solidFill>
          <a:ln/>
        </p:spPr>
      </p:sp>
      <p:pic>
        <p:nvPicPr>
          <p:cNvPr id="13" name="stat 3 icon" descr="stat 3">    </p:cNvPr>
          <p:cNvPicPr>
            <a:picLocks noChangeAspect="1"/>
          </p:cNvPicPr>
          <p:nvPr/>
        </p:nvPicPr>
        <p:blipFill>
          <a:blip r:embed="rId3"/>
          <a:stretch>
            <a:fillRect/>
          </a:stretch>
        </p:blipFill>
        <p:spPr>
          <a:xfrm>
            <a:off x="6609283" y="1799539"/>
            <a:ext cx="332842" cy="332842"/>
          </a:xfrm>
          <a:prstGeom prst="rect">
            <a:avLst/>
          </a:prstGeom>
        </p:spPr>
      </p:pic>
      <p:sp>
        <p:nvSpPr>
          <p:cNvPr id="14" name="stat 3 text"/>
          <p:cNvSpPr txBox="1"/>
          <p:nvPr/>
        </p:nvSpPr>
        <p:spPr>
          <a:xfrm>
            <a:off x="6455664" y="2331720"/>
            <a:ext cx="2057400" cy="1463040"/>
          </a:xfrm>
          <a:prstGeom prst="rect">
            <a:avLst/>
          </a:prstGeom>
          <a:noFill/>
          <a:ln/>
        </p:spPr>
        <p:txBody>
          <a:bodyPr wrap="square" lIns="0" tIns="0" rIns="0" bIns="0" rtlCol="0" anchor="t"/>
          <a:lstStyle/>
          <a:p>
            <a:pPr indent="0" marL="0">
              <a:buNone/>
            </a:pPr>
            <a:r>
              <a:rPr lang="en-US" sz="5400" b="1" dirty="0">
                <a:solidFill>
                  <a:schemeClr val="tx2"/>
                </a:solidFill>
              </a:rPr>
              <a:t>47</a:t>
            </a:r>
            <a:endParaRPr lang="en-US" sz="5400" dirty="0"/>
          </a:p>
          <a:p>
            <a:pPr indent="0" marL="0">
              <a:buNone/>
            </a:pPr>
            <a:r>
              <a:rPr lang="en-US" sz="1600" dirty="0">
                <a:solidFill>
                  <a:schemeClr val="tx1"/>
                </a:solidFill>
              </a:rPr>
              <a:t>automated tests</a:t>
            </a:r>
            <a:endParaRPr lang="en-US" sz="5400" dirty="0"/>
          </a:p>
        </p:txBody>
      </p:sp>
      <p:sp>
        <p:nvSpPr>
          <p:cNvPr id="15" name="stat 4"/>
          <p:cNvSpPr/>
          <p:nvPr/>
        </p:nvSpPr>
        <p:spPr>
          <a:xfrm>
            <a:off x="8997696" y="1417320"/>
            <a:ext cx="2606040" cy="2514600"/>
          </a:xfrm>
          <a:prstGeom prst="roundRect">
            <a:avLst>
              <a:gd name="adj" fmla="val 4364"/>
            </a:avLst>
          </a:prstGeom>
          <a:solidFill>
            <a:schemeClr val="bg2"/>
          </a:solidFill>
          <a:ln/>
        </p:spPr>
      </p:sp>
      <p:sp>
        <p:nvSpPr>
          <p:cNvPr id="16" name="stat 4 circle"/>
          <p:cNvSpPr/>
          <p:nvPr/>
        </p:nvSpPr>
        <p:spPr>
          <a:xfrm>
            <a:off x="9272016" y="1645920"/>
            <a:ext cx="640080" cy="640080"/>
          </a:xfrm>
          <a:prstGeom prst="ellipse">
            <a:avLst/>
          </a:prstGeom>
          <a:solidFill>
            <a:srgbClr val="2E7D32"/>
          </a:solidFill>
          <a:ln/>
        </p:spPr>
      </p:sp>
      <p:pic>
        <p:nvPicPr>
          <p:cNvPr id="17" name="stat 4 icon" descr="stat 4">    </p:cNvPr>
          <p:cNvPicPr>
            <a:picLocks noChangeAspect="1"/>
          </p:cNvPicPr>
          <p:nvPr/>
        </p:nvPicPr>
        <p:blipFill>
          <a:blip r:embed="rId4"/>
          <a:stretch>
            <a:fillRect/>
          </a:stretch>
        </p:blipFill>
        <p:spPr>
          <a:xfrm>
            <a:off x="9425635" y="1799539"/>
            <a:ext cx="332842" cy="332842"/>
          </a:xfrm>
          <a:prstGeom prst="rect">
            <a:avLst/>
          </a:prstGeom>
        </p:spPr>
      </p:pic>
      <p:sp>
        <p:nvSpPr>
          <p:cNvPr id="18" name="stat 4 text"/>
          <p:cNvSpPr txBox="1"/>
          <p:nvPr/>
        </p:nvSpPr>
        <p:spPr>
          <a:xfrm>
            <a:off x="9272016" y="2331720"/>
            <a:ext cx="2057400" cy="1463040"/>
          </a:xfrm>
          <a:prstGeom prst="rect">
            <a:avLst/>
          </a:prstGeom>
          <a:noFill/>
          <a:ln/>
        </p:spPr>
        <p:txBody>
          <a:bodyPr wrap="square" lIns="0" tIns="0" rIns="0" bIns="0" rtlCol="0" anchor="t"/>
          <a:lstStyle/>
          <a:p>
            <a:pPr indent="0" marL="0">
              <a:buNone/>
            </a:pPr>
            <a:r>
              <a:rPr lang="en-US" sz="5400" b="1" dirty="0">
                <a:solidFill>
                  <a:schemeClr val="tx2"/>
                </a:solidFill>
              </a:rPr>
              <a:t>3</a:t>
            </a:r>
            <a:endParaRPr lang="en-US" sz="5400" dirty="0"/>
          </a:p>
          <a:p>
            <a:pPr indent="0" marL="0">
              <a:buNone/>
            </a:pPr>
            <a:r>
              <a:rPr lang="en-US" sz="1600" dirty="0">
                <a:solidFill>
                  <a:schemeClr val="tx1"/>
                </a:solidFill>
              </a:rPr>
              <a:t>interfaces</a:t>
            </a:r>
            <a:endParaRPr lang="en-US" sz="5400" dirty="0"/>
          </a:p>
        </p:txBody>
      </p:sp>
      <p:sp>
        <p:nvSpPr>
          <p:cNvPr id="19" name="chip 1"/>
          <p:cNvSpPr/>
          <p:nvPr/>
        </p:nvSpPr>
        <p:spPr>
          <a:xfrm>
            <a:off x="548640" y="4251960"/>
            <a:ext cx="2606040" cy="548640"/>
          </a:xfrm>
          <a:prstGeom prst="roundRect">
            <a:avLst>
              <a:gd name="adj" fmla="val 50000"/>
            </a:avLst>
          </a:prstGeom>
          <a:solidFill>
            <a:schemeClr val="bg1"/>
          </a:solidFill>
          <a:ln w="15875">
            <a:solidFill>
              <a:schemeClr val="accent1"/>
            </a:solidFill>
            <a:prstDash val="solid"/>
          </a:ln>
        </p:spPr>
      </p:sp>
      <p:sp>
        <p:nvSpPr>
          <p:cNvPr id="20" name="chip 1 text"/>
          <p:cNvSpPr txBox="1"/>
          <p:nvPr/>
        </p:nvSpPr>
        <p:spPr>
          <a:xfrm>
            <a:off x="548640" y="4251960"/>
            <a:ext cx="2606040" cy="548640"/>
          </a:xfrm>
          <a:prstGeom prst="rect">
            <a:avLst/>
          </a:prstGeom>
          <a:noFill/>
          <a:ln/>
        </p:spPr>
        <p:txBody>
          <a:bodyPr wrap="square" lIns="0" tIns="0" rIns="0" bIns="0" rtlCol="0" anchor="ctr"/>
          <a:lstStyle/>
          <a:p>
            <a:pPr algn="ctr" indent="0" marL="0">
              <a:buNone/>
            </a:pPr>
            <a:r>
              <a:rPr lang="en-US" sz="1500" b="1" dirty="0">
                <a:solidFill>
                  <a:schemeClr val="accent1"/>
                </a:solidFill>
              </a:rPr>
              <a:t>Modular src/ package</a:t>
            </a:r>
            <a:endParaRPr lang="en-US" sz="1500" dirty="0"/>
          </a:p>
        </p:txBody>
      </p:sp>
      <p:sp>
        <p:nvSpPr>
          <p:cNvPr id="21" name="chip 2"/>
          <p:cNvSpPr/>
          <p:nvPr/>
        </p:nvSpPr>
        <p:spPr>
          <a:xfrm>
            <a:off x="3364992" y="4251960"/>
            <a:ext cx="2606040" cy="548640"/>
          </a:xfrm>
          <a:prstGeom prst="roundRect">
            <a:avLst>
              <a:gd name="adj" fmla="val 50000"/>
            </a:avLst>
          </a:prstGeom>
          <a:solidFill>
            <a:schemeClr val="bg1"/>
          </a:solidFill>
          <a:ln w="15875">
            <a:solidFill>
              <a:schemeClr val="accent1"/>
            </a:solidFill>
            <a:prstDash val="solid"/>
          </a:ln>
        </p:spPr>
      </p:sp>
      <p:sp>
        <p:nvSpPr>
          <p:cNvPr id="22" name="chip 2 text"/>
          <p:cNvSpPr txBox="1"/>
          <p:nvPr/>
        </p:nvSpPr>
        <p:spPr>
          <a:xfrm>
            <a:off x="3364992" y="4251960"/>
            <a:ext cx="2606040" cy="548640"/>
          </a:xfrm>
          <a:prstGeom prst="rect">
            <a:avLst/>
          </a:prstGeom>
          <a:noFill/>
          <a:ln/>
        </p:spPr>
        <p:txBody>
          <a:bodyPr wrap="square" lIns="0" tIns="0" rIns="0" bIns="0" rtlCol="0" anchor="ctr"/>
          <a:lstStyle/>
          <a:p>
            <a:pPr algn="ctr" indent="0" marL="0">
              <a:buNone/>
            </a:pPr>
            <a:r>
              <a:rPr lang="en-US" sz="1500" b="1" dirty="0">
                <a:solidFill>
                  <a:schemeClr val="accent1"/>
                </a:solidFill>
              </a:rPr>
              <a:t>Docker + compose</a:t>
            </a:r>
            <a:endParaRPr lang="en-US" sz="1500" dirty="0"/>
          </a:p>
        </p:txBody>
      </p:sp>
      <p:sp>
        <p:nvSpPr>
          <p:cNvPr id="23" name="chip 3"/>
          <p:cNvSpPr/>
          <p:nvPr/>
        </p:nvSpPr>
        <p:spPr>
          <a:xfrm>
            <a:off x="6181344" y="4251960"/>
            <a:ext cx="2606040" cy="548640"/>
          </a:xfrm>
          <a:prstGeom prst="roundRect">
            <a:avLst>
              <a:gd name="adj" fmla="val 50000"/>
            </a:avLst>
          </a:prstGeom>
          <a:solidFill>
            <a:schemeClr val="bg1"/>
          </a:solidFill>
          <a:ln w="15875">
            <a:solidFill>
              <a:schemeClr val="accent1"/>
            </a:solidFill>
            <a:prstDash val="solid"/>
          </a:ln>
        </p:spPr>
      </p:sp>
      <p:sp>
        <p:nvSpPr>
          <p:cNvPr id="24" name="chip 3 text"/>
          <p:cNvSpPr txBox="1"/>
          <p:nvPr/>
        </p:nvSpPr>
        <p:spPr>
          <a:xfrm>
            <a:off x="6181344" y="4251960"/>
            <a:ext cx="2606040" cy="548640"/>
          </a:xfrm>
          <a:prstGeom prst="rect">
            <a:avLst/>
          </a:prstGeom>
          <a:noFill/>
          <a:ln/>
        </p:spPr>
        <p:txBody>
          <a:bodyPr wrap="square" lIns="0" tIns="0" rIns="0" bIns="0" rtlCol="0" anchor="ctr"/>
          <a:lstStyle/>
          <a:p>
            <a:pPr algn="ctr" indent="0" marL="0">
              <a:buNone/>
            </a:pPr>
            <a:r>
              <a:rPr lang="en-US" sz="1500" b="1" dirty="0">
                <a:solidFill>
                  <a:schemeClr val="accent1"/>
                </a:solidFill>
              </a:rPr>
              <a:t>GitHub Actions CI</a:t>
            </a:r>
            <a:endParaRPr lang="en-US" sz="1500" dirty="0"/>
          </a:p>
        </p:txBody>
      </p:sp>
      <p:sp>
        <p:nvSpPr>
          <p:cNvPr id="25" name="chip 4"/>
          <p:cNvSpPr/>
          <p:nvPr/>
        </p:nvSpPr>
        <p:spPr>
          <a:xfrm>
            <a:off x="8997696" y="4251960"/>
            <a:ext cx="2606040" cy="548640"/>
          </a:xfrm>
          <a:prstGeom prst="roundRect">
            <a:avLst>
              <a:gd name="adj" fmla="val 50000"/>
            </a:avLst>
          </a:prstGeom>
          <a:solidFill>
            <a:schemeClr val="bg1"/>
          </a:solidFill>
          <a:ln w="15875">
            <a:solidFill>
              <a:schemeClr val="accent1"/>
            </a:solidFill>
            <a:prstDash val="solid"/>
          </a:ln>
        </p:spPr>
      </p:sp>
      <p:sp>
        <p:nvSpPr>
          <p:cNvPr id="26" name="chip 4 text"/>
          <p:cNvSpPr txBox="1"/>
          <p:nvPr/>
        </p:nvSpPr>
        <p:spPr>
          <a:xfrm>
            <a:off x="8997696" y="4251960"/>
            <a:ext cx="2606040" cy="548640"/>
          </a:xfrm>
          <a:prstGeom prst="rect">
            <a:avLst/>
          </a:prstGeom>
          <a:noFill/>
          <a:ln/>
        </p:spPr>
        <p:txBody>
          <a:bodyPr wrap="square" lIns="0" tIns="0" rIns="0" bIns="0" rtlCol="0" anchor="ctr"/>
          <a:lstStyle/>
          <a:p>
            <a:pPr algn="ctr" indent="0" marL="0">
              <a:buNone/>
            </a:pPr>
            <a:r>
              <a:rPr lang="en-US" sz="1500" b="1" dirty="0">
                <a:solidFill>
                  <a:schemeClr val="accent1"/>
                </a:solidFill>
              </a:rPr>
              <a:t>On-disk API cache</a:t>
            </a:r>
            <a:endParaRPr lang="en-US" sz="1500" dirty="0"/>
          </a:p>
        </p:txBody>
      </p:sp>
      <p:sp>
        <p:nvSpPr>
          <p:cNvPr id="27" name="chip 5"/>
          <p:cNvSpPr/>
          <p:nvPr/>
        </p:nvSpPr>
        <p:spPr>
          <a:xfrm>
            <a:off x="548640" y="5029200"/>
            <a:ext cx="2606040" cy="548640"/>
          </a:xfrm>
          <a:prstGeom prst="roundRect">
            <a:avLst>
              <a:gd name="adj" fmla="val 50000"/>
            </a:avLst>
          </a:prstGeom>
          <a:solidFill>
            <a:schemeClr val="bg1"/>
          </a:solidFill>
          <a:ln w="15875">
            <a:solidFill>
              <a:schemeClr val="accent1"/>
            </a:solidFill>
            <a:prstDash val="solid"/>
          </a:ln>
        </p:spPr>
      </p:sp>
      <p:sp>
        <p:nvSpPr>
          <p:cNvPr id="28" name="chip 5 text"/>
          <p:cNvSpPr txBox="1"/>
          <p:nvPr/>
        </p:nvSpPr>
        <p:spPr>
          <a:xfrm>
            <a:off x="548640" y="5029200"/>
            <a:ext cx="2606040" cy="548640"/>
          </a:xfrm>
          <a:prstGeom prst="rect">
            <a:avLst/>
          </a:prstGeom>
          <a:noFill/>
          <a:ln/>
        </p:spPr>
        <p:txBody>
          <a:bodyPr wrap="square" lIns="0" tIns="0" rIns="0" bIns="0" rtlCol="0" anchor="ctr"/>
          <a:lstStyle/>
          <a:p>
            <a:pPr algn="ctr" indent="0" marL="0">
              <a:buNone/>
            </a:pPr>
            <a:r>
              <a:rPr lang="en-US" sz="1500" b="1" dirty="0">
                <a:solidFill>
                  <a:schemeClr val="accent1"/>
                </a:solidFill>
              </a:rPr>
              <a:t>Rate-limit back-off</a:t>
            </a:r>
            <a:endParaRPr lang="en-US" sz="1500" dirty="0"/>
          </a:p>
        </p:txBody>
      </p:sp>
      <p:sp>
        <p:nvSpPr>
          <p:cNvPr id="29" name="chip 6"/>
          <p:cNvSpPr/>
          <p:nvPr/>
        </p:nvSpPr>
        <p:spPr>
          <a:xfrm>
            <a:off x="3364992" y="5029200"/>
            <a:ext cx="2606040" cy="548640"/>
          </a:xfrm>
          <a:prstGeom prst="roundRect">
            <a:avLst>
              <a:gd name="adj" fmla="val 50000"/>
            </a:avLst>
          </a:prstGeom>
          <a:solidFill>
            <a:schemeClr val="bg1"/>
          </a:solidFill>
          <a:ln w="15875">
            <a:solidFill>
              <a:schemeClr val="accent1"/>
            </a:solidFill>
            <a:prstDash val="solid"/>
          </a:ln>
        </p:spPr>
      </p:sp>
      <p:sp>
        <p:nvSpPr>
          <p:cNvPr id="30" name="chip 6 text"/>
          <p:cNvSpPr txBox="1"/>
          <p:nvPr/>
        </p:nvSpPr>
        <p:spPr>
          <a:xfrm>
            <a:off x="3364992" y="5029200"/>
            <a:ext cx="2606040" cy="548640"/>
          </a:xfrm>
          <a:prstGeom prst="rect">
            <a:avLst/>
          </a:prstGeom>
          <a:noFill/>
          <a:ln/>
        </p:spPr>
        <p:txBody>
          <a:bodyPr wrap="square" lIns="0" tIns="0" rIns="0" bIns="0" rtlCol="0" anchor="ctr"/>
          <a:lstStyle/>
          <a:p>
            <a:pPr algn="ctr" indent="0" marL="0">
              <a:buNone/>
            </a:pPr>
            <a:r>
              <a:rPr lang="en-US" sz="1500" b="1" dirty="0">
                <a:solidFill>
                  <a:schemeClr val="accent1"/>
                </a:solidFill>
              </a:rPr>
              <a:t>Offline demo mode</a:t>
            </a:r>
            <a:endParaRPr lang="en-US" sz="1500" dirty="0"/>
          </a:p>
        </p:txBody>
      </p:sp>
      <p:sp>
        <p:nvSpPr>
          <p:cNvPr id="31" name="chip 7"/>
          <p:cNvSpPr/>
          <p:nvPr/>
        </p:nvSpPr>
        <p:spPr>
          <a:xfrm>
            <a:off x="6181344" y="5029200"/>
            <a:ext cx="2606040" cy="548640"/>
          </a:xfrm>
          <a:prstGeom prst="roundRect">
            <a:avLst>
              <a:gd name="adj" fmla="val 50000"/>
            </a:avLst>
          </a:prstGeom>
          <a:solidFill>
            <a:schemeClr val="bg1"/>
          </a:solidFill>
          <a:ln w="15875">
            <a:solidFill>
              <a:schemeClr val="accent1"/>
            </a:solidFill>
            <a:prstDash val="solid"/>
          </a:ln>
        </p:spPr>
      </p:sp>
      <p:sp>
        <p:nvSpPr>
          <p:cNvPr id="32" name="chip 7 text"/>
          <p:cNvSpPr txBox="1"/>
          <p:nvPr/>
        </p:nvSpPr>
        <p:spPr>
          <a:xfrm>
            <a:off x="6181344" y="5029200"/>
            <a:ext cx="2606040" cy="548640"/>
          </a:xfrm>
          <a:prstGeom prst="rect">
            <a:avLst/>
          </a:prstGeom>
          <a:noFill/>
          <a:ln/>
        </p:spPr>
        <p:txBody>
          <a:bodyPr wrap="square" lIns="0" tIns="0" rIns="0" bIns="0" rtlCol="0" anchor="ctr"/>
          <a:lstStyle/>
          <a:p>
            <a:pPr algn="ctr" indent="0" marL="0">
              <a:buNone/>
            </a:pPr>
            <a:r>
              <a:rPr lang="en-US" sz="1500" b="1" dirty="0">
                <a:solidFill>
                  <a:schemeClr val="accent1"/>
                </a:solidFill>
              </a:rPr>
              <a:t>GeoJSON for QGIS</a:t>
            </a:r>
            <a:endParaRPr lang="en-US" sz="1500" dirty="0"/>
          </a:p>
        </p:txBody>
      </p:sp>
      <p:sp>
        <p:nvSpPr>
          <p:cNvPr id="33" name="chip 8"/>
          <p:cNvSpPr/>
          <p:nvPr/>
        </p:nvSpPr>
        <p:spPr>
          <a:xfrm>
            <a:off x="8997696" y="5029200"/>
            <a:ext cx="2606040" cy="548640"/>
          </a:xfrm>
          <a:prstGeom prst="roundRect">
            <a:avLst>
              <a:gd name="adj" fmla="val 50000"/>
            </a:avLst>
          </a:prstGeom>
          <a:solidFill>
            <a:schemeClr val="bg1"/>
          </a:solidFill>
          <a:ln w="15875">
            <a:solidFill>
              <a:schemeClr val="accent1"/>
            </a:solidFill>
            <a:prstDash val="solid"/>
          </a:ln>
        </p:spPr>
      </p:sp>
      <p:sp>
        <p:nvSpPr>
          <p:cNvPr id="34" name="chip 8 text"/>
          <p:cNvSpPr txBox="1"/>
          <p:nvPr/>
        </p:nvSpPr>
        <p:spPr>
          <a:xfrm>
            <a:off x="8997696" y="5029200"/>
            <a:ext cx="2606040" cy="548640"/>
          </a:xfrm>
          <a:prstGeom prst="rect">
            <a:avLst/>
          </a:prstGeom>
          <a:noFill/>
          <a:ln/>
        </p:spPr>
        <p:txBody>
          <a:bodyPr wrap="square" lIns="0" tIns="0" rIns="0" bIns="0" rtlCol="0" anchor="ctr"/>
          <a:lstStyle/>
          <a:p>
            <a:pPr algn="ctr" indent="0" marL="0">
              <a:buNone/>
            </a:pPr>
            <a:r>
              <a:rPr lang="en-US" sz="1500" b="1" dirty="0">
                <a:solidFill>
                  <a:schemeClr val="accent1"/>
                </a:solidFill>
              </a:rPr>
              <a:t>KML for Google Earth</a:t>
            </a:r>
            <a:endParaRPr lang="en-US" sz="1500" dirty="0"/>
          </a:p>
        </p:txBody>
      </p:sp>
      <p:sp>
        <p:nvSpPr>
          <p:cNvPr id="25" name="Slide Number Placeholder 0"/>
          <p:cNvSpPr>
            <a:spLocks noGrp="1"/>
          </p:cNvSpPr>
          <p:nvPr>
            <p:ph type="sldNum" sz="quarter" idx="4294967295"/>
          </p:nvPr>
        </p:nvSpPr>
        <p:spPr>
          <a:xfrm>
            <a:off x="1109441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Honest limits and a clear roadmap</a:t>
            </a:r>
            <a:endParaRPr lang="en-US" sz="3200" dirty="0"/>
          </a:p>
        </p:txBody>
      </p:sp>
      <p:sp>
        <p:nvSpPr>
          <p:cNvPr id="3" name="Current limitations card"/>
          <p:cNvSpPr/>
          <p:nvPr/>
        </p:nvSpPr>
        <p:spPr>
          <a:xfrm>
            <a:off x="548640" y="1417320"/>
            <a:ext cx="5394960" cy="3566160"/>
          </a:xfrm>
          <a:prstGeom prst="roundRect">
            <a:avLst>
              <a:gd name="adj" fmla="val 3077"/>
            </a:avLst>
          </a:prstGeom>
          <a:solidFill>
            <a:schemeClr val="bg2"/>
          </a:solidFill>
          <a:ln/>
        </p:spPr>
      </p:sp>
      <p:sp>
        <p:nvSpPr>
          <p:cNvPr id="4" name="Current limitations circle"/>
          <p:cNvSpPr/>
          <p:nvPr/>
        </p:nvSpPr>
        <p:spPr>
          <a:xfrm>
            <a:off x="868680" y="1691640"/>
            <a:ext cx="685800" cy="685800"/>
          </a:xfrm>
          <a:prstGeom prst="ellipse">
            <a:avLst/>
          </a:prstGeom>
          <a:solidFill>
            <a:srgbClr val="F9A825"/>
          </a:solidFill>
          <a:ln/>
        </p:spPr>
      </p:sp>
      <p:pic>
        <p:nvPicPr>
          <p:cNvPr id="5" name="Current limitations icon" descr="Current limitations">    </p:cNvPr>
          <p:cNvPicPr>
            <a:picLocks noChangeAspect="1"/>
          </p:cNvPicPr>
          <p:nvPr/>
        </p:nvPicPr>
        <p:blipFill>
          <a:blip r:embed="rId1"/>
          <a:stretch>
            <a:fillRect/>
          </a:stretch>
        </p:blipFill>
        <p:spPr>
          <a:xfrm>
            <a:off x="1033272" y="1856232"/>
            <a:ext cx="356616" cy="356616"/>
          </a:xfrm>
          <a:prstGeom prst="rect">
            <a:avLst/>
          </a:prstGeom>
        </p:spPr>
      </p:pic>
      <p:sp>
        <p:nvSpPr>
          <p:cNvPr id="6" name="Current limitations title"/>
          <p:cNvSpPr txBox="1"/>
          <p:nvPr/>
        </p:nvSpPr>
        <p:spPr>
          <a:xfrm>
            <a:off x="1737360" y="1691640"/>
            <a:ext cx="3931920" cy="68580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Current limitations</a:t>
            </a:r>
            <a:endParaRPr lang="en-US" sz="2200" dirty="0"/>
          </a:p>
        </p:txBody>
      </p:sp>
      <p:sp>
        <p:nvSpPr>
          <p:cNvPr id="7" name="Current limitations list"/>
          <p:cNvSpPr txBox="1"/>
          <p:nvPr/>
        </p:nvSpPr>
        <p:spPr>
          <a:xfrm>
            <a:off x="868680" y="2651760"/>
            <a:ext cx="4754880" cy="214884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rPr>
              <a:t>Crop ranges from the literature, not yet calibrated on local yields</a:t>
            </a:r>
            <a:endParaRPr lang="en-US" sz="1700" dirty="0"/>
          </a:p>
          <a:p>
            <a:pPr marL="342900" indent="-342900">
              <a:spcAft>
                <a:spcPts val="1000"/>
              </a:spcAft>
              <a:buSzPct val="100000"/>
              <a:buChar char="•"/>
            </a:pPr>
            <a:r>
              <a:rPr lang="en-US" sz="1700" dirty="0">
                <a:solidFill>
                  <a:schemeClr val="tx1"/>
                </a:solidFill>
              </a:rPr>
              <a:t>ERA5 (~25 km) underestimates mountain rainfall</a:t>
            </a:r>
            <a:endParaRPr lang="en-US" sz="1700" dirty="0"/>
          </a:p>
          <a:p>
            <a:pPr marL="342900" indent="-342900">
              <a:spcAft>
                <a:spcPts val="1000"/>
              </a:spcAft>
              <a:buSzPct val="100000"/>
              <a:buChar char="•"/>
            </a:pPr>
            <a:r>
              <a:rPr lang="en-US" sz="1700" dirty="0">
                <a:solidFill>
                  <a:schemeClr val="tx1"/>
                </a:solidFill>
              </a:rPr>
              <a:t>Default soil in regional scans (SoilGrids rate limit)</a:t>
            </a:r>
            <a:endParaRPr lang="en-US" sz="1700" dirty="0"/>
          </a:p>
          <a:p>
            <a:pPr marL="342900" indent="-342900">
              <a:spcAft>
                <a:spcPts val="1000"/>
              </a:spcAft>
              <a:buSzPct val="100000"/>
              <a:buChar char="•"/>
            </a:pPr>
            <a:r>
              <a:rPr lang="en-US" sz="1700" dirty="0">
                <a:solidFill>
                  <a:schemeClr val="tx1"/>
                </a:solidFill>
              </a:rPr>
              <a:t>No salinity, slope or groundwater yet</a:t>
            </a:r>
            <a:endParaRPr lang="en-US" sz="1700" dirty="0"/>
          </a:p>
        </p:txBody>
      </p:sp>
      <p:sp>
        <p:nvSpPr>
          <p:cNvPr id="8" name="Next steps card"/>
          <p:cNvSpPr/>
          <p:nvPr/>
        </p:nvSpPr>
        <p:spPr>
          <a:xfrm>
            <a:off x="6172200" y="1417320"/>
            <a:ext cx="5394960" cy="3566160"/>
          </a:xfrm>
          <a:prstGeom prst="roundRect">
            <a:avLst>
              <a:gd name="adj" fmla="val 3077"/>
            </a:avLst>
          </a:prstGeom>
          <a:solidFill>
            <a:schemeClr val="bg2"/>
          </a:solidFill>
          <a:ln/>
        </p:spPr>
      </p:sp>
      <p:sp>
        <p:nvSpPr>
          <p:cNvPr id="9" name="Next steps circle"/>
          <p:cNvSpPr/>
          <p:nvPr/>
        </p:nvSpPr>
        <p:spPr>
          <a:xfrm>
            <a:off x="6492240" y="1691640"/>
            <a:ext cx="685800" cy="685800"/>
          </a:xfrm>
          <a:prstGeom prst="ellipse">
            <a:avLst/>
          </a:prstGeom>
          <a:solidFill>
            <a:srgbClr val="2E7D32"/>
          </a:solidFill>
          <a:ln/>
        </p:spPr>
      </p:sp>
      <p:pic>
        <p:nvPicPr>
          <p:cNvPr id="10" name="Next steps icon" descr="Next steps">    </p:cNvPr>
          <p:cNvPicPr>
            <a:picLocks noChangeAspect="1"/>
          </p:cNvPicPr>
          <p:nvPr/>
        </p:nvPicPr>
        <p:blipFill>
          <a:blip r:embed="rId2"/>
          <a:stretch>
            <a:fillRect/>
          </a:stretch>
        </p:blipFill>
        <p:spPr>
          <a:xfrm>
            <a:off x="6656832" y="1856232"/>
            <a:ext cx="356616" cy="356616"/>
          </a:xfrm>
          <a:prstGeom prst="rect">
            <a:avLst/>
          </a:prstGeom>
        </p:spPr>
      </p:pic>
      <p:sp>
        <p:nvSpPr>
          <p:cNvPr id="11" name="Next steps title"/>
          <p:cNvSpPr txBox="1"/>
          <p:nvPr/>
        </p:nvSpPr>
        <p:spPr>
          <a:xfrm>
            <a:off x="7360920" y="1691640"/>
            <a:ext cx="3931920" cy="68580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Next steps</a:t>
            </a:r>
            <a:endParaRPr lang="en-US" sz="2200" dirty="0"/>
          </a:p>
        </p:txBody>
      </p:sp>
      <p:sp>
        <p:nvSpPr>
          <p:cNvPr id="12" name="Next steps list"/>
          <p:cNvSpPr txBox="1"/>
          <p:nvPr/>
        </p:nvSpPr>
        <p:spPr>
          <a:xfrm>
            <a:off x="6492240" y="2651760"/>
            <a:ext cx="4754880" cy="214884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rPr>
              <a:t>Slope and aspect from the DEM</a:t>
            </a:r>
            <a:endParaRPr lang="en-US" sz="1700" dirty="0"/>
          </a:p>
          <a:p>
            <a:pPr marL="342900" indent="-342900">
              <a:spcAft>
                <a:spcPts val="1000"/>
              </a:spcAft>
              <a:buSzPct val="100000"/>
              <a:buChar char="•"/>
            </a:pPr>
            <a:r>
              <a:rPr lang="en-US" sz="1700" dirty="0">
                <a:solidFill>
                  <a:schemeClr val="tx1"/>
                </a:solidFill>
              </a:rPr>
              <a:t>Salinity layer and salt tolerance per crop</a:t>
            </a:r>
            <a:endParaRPr lang="en-US" sz="1700" dirty="0"/>
          </a:p>
          <a:p>
            <a:pPr marL="342900" indent="-342900">
              <a:spcAft>
                <a:spcPts val="1000"/>
              </a:spcAft>
              <a:buSzPct val="100000"/>
              <a:buChar char="•"/>
            </a:pPr>
            <a:r>
              <a:rPr lang="en-US" sz="1700" dirty="0">
                <a:solidFill>
                  <a:schemeClr val="tx1"/>
                </a:solidFill>
              </a:rPr>
              <a:t>Calibration on Sentinel-2 crop-type maps</a:t>
            </a:r>
            <a:endParaRPr lang="en-US" sz="1700" dirty="0"/>
          </a:p>
          <a:p>
            <a:pPr marL="342900" indent="-342900">
              <a:spcAft>
                <a:spcPts val="1000"/>
              </a:spcAft>
              <a:buSzPct val="100000"/>
              <a:buChar char="•"/>
            </a:pPr>
            <a:r>
              <a:rPr lang="en-US" sz="1700" dirty="0">
                <a:solidFill>
                  <a:schemeClr val="tx1"/>
                </a:solidFill>
              </a:rPr>
              <a:t>CMIP6 projections for 2050 suitability maps</a:t>
            </a:r>
            <a:endParaRPr lang="en-US" sz="1700" dirty="0"/>
          </a:p>
        </p:txBody>
      </p:sp>
      <p:sp>
        <p:nvSpPr>
          <p:cNvPr id="25" name="Slide Number Placeholder 0"/>
          <p:cNvSpPr>
            <a:spLocks noGrp="1"/>
          </p:cNvSpPr>
          <p:nvPr>
            <p:ph type="sldNum" sz="quarter" idx="4294967295"/>
          </p:nvPr>
        </p:nvSpPr>
        <p:spPr>
          <a:xfrm>
            <a:off x="1109441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6B7A7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6035040" cy="1188720"/>
          </a:xfrm>
          <a:prstGeom prst="rect">
            <a:avLst/>
          </a:prstGeom>
          <a:noFill/>
          <a:ln/>
        </p:spPr>
        <p:txBody>
          <a:bodyPr wrap="square" lIns="0" tIns="0" rIns="0" bIns="0" rtlCol="0" anchor="b"/>
          <a:lstStyle/>
          <a:p>
            <a:pPr algn="l" indent="0" marL="0">
              <a:buNone/>
            </a:pPr>
            <a:r>
              <a:rPr lang="en-US" sz="6000" b="1" dirty="0">
                <a:solidFill>
                  <a:schemeClr val="bg1"/>
                </a:solidFill>
                <a:latin typeface="Cambria" pitchFamily="34" charset="0"/>
                <a:ea typeface="Cambria" pitchFamily="34" charset="-122"/>
                <a:cs typeface="Cambria" pitchFamily="34" charset="-120"/>
              </a:rPr>
              <a:t>Thank you</a:t>
            </a:r>
            <a:endParaRPr lang="en-US" sz="6000" dirty="0"/>
          </a:p>
        </p:txBody>
      </p:sp>
      <p:sp>
        <p:nvSpPr>
          <p:cNvPr id="3" name="Text 0"/>
          <p:cNvSpPr/>
          <p:nvPr>
            <p:ph idx="101" type="body" hasCustomPrompt="1"/>
          </p:nvPr>
        </p:nvSpPr>
        <p:spPr>
          <a:xfrm>
            <a:off x="548640" y="3154680"/>
            <a:ext cx="5852160" cy="1188720"/>
          </a:xfrm>
          <a:prstGeom prst="rect">
            <a:avLst/>
          </a:prstGeom>
          <a:noFill/>
          <a:ln/>
        </p:spPr>
        <p:txBody>
          <a:bodyPr wrap="square" lIns="0" tIns="0" rIns="0" bIns="0" rtlCol="0" anchor="t"/>
          <a:lstStyle/>
          <a:p>
            <a:pPr algn="l" indent="0" marL="0">
              <a:buNone/>
            </a:pPr>
            <a:r>
              <a:rPr lang="en-US" sz="2200" dirty="0">
                <a:solidFill>
                  <a:schemeClr val="accent3"/>
                </a:solidFill>
                <a:latin typeface="Calibri" pitchFamily="34" charset="0"/>
                <a:ea typeface="Calibri" pitchFamily="34" charset="-122"/>
                <a:cs typeface="Calibri" pitchFamily="34" charset="-120"/>
              </a:rPr>
              <a:t>Questions and discussion</a:t>
            </a:r>
            <a:endParaRPr lang="en-US" sz="2200" dirty="0"/>
          </a:p>
        </p:txBody>
      </p:sp>
      <p:sp>
        <p:nvSpPr>
          <p:cNvPr id="4" name="closing message"/>
          <p:cNvSpPr txBox="1"/>
          <p:nvPr/>
        </p:nvSpPr>
        <p:spPr>
          <a:xfrm>
            <a:off x="548640" y="4160520"/>
            <a:ext cx="5669280" cy="822960"/>
          </a:xfrm>
          <a:prstGeom prst="rect">
            <a:avLst/>
          </a:prstGeom>
          <a:noFill/>
          <a:ln/>
        </p:spPr>
        <p:txBody>
          <a:bodyPr wrap="square" lIns="0" tIns="0" rIns="0" bIns="0" rtlCol="0" anchor="ctr"/>
          <a:lstStyle/>
          <a:p>
            <a:pPr indent="0" marL="0">
              <a:buNone/>
            </a:pPr>
            <a:r>
              <a:rPr lang="en-US" sz="1600" dirty="0">
                <a:solidFill>
                  <a:schemeClr val="bg2"/>
                </a:solidFill>
              </a:rPr>
              <a:t>Open data + transparent FAO fuzzy model = explainable crop recommendations for North Africa.</a:t>
            </a:r>
            <a:endParaRPr lang="en-US" sz="1600" dirty="0"/>
          </a:p>
        </p:txBody>
      </p:sp>
      <p:sp>
        <p:nvSpPr>
          <p:cNvPr id="5" name="closing author"/>
          <p:cNvSpPr txBox="1"/>
          <p:nvPr/>
        </p:nvSpPr>
        <p:spPr>
          <a:xfrm>
            <a:off x="548640" y="5623560"/>
            <a:ext cx="5486400" cy="731520"/>
          </a:xfrm>
          <a:prstGeom prst="rect">
            <a:avLst/>
          </a:prstGeom>
          <a:noFill/>
          <a:ln/>
        </p:spPr>
        <p:txBody>
          <a:bodyPr wrap="square" lIns="0" tIns="0" rIns="0" bIns="0" rtlCol="0" anchor="ctr"/>
          <a:lstStyle/>
          <a:p>
            <a:pPr indent="0" marL="0">
              <a:buNone/>
            </a:pPr>
            <a:r>
              <a:rPr lang="en-US" sz="1400" b="1" dirty="0">
                <a:solidFill>
                  <a:schemeClr val="bg1"/>
                </a:solidFill>
              </a:rPr>
              <a:t>Yahya Houimdi</a:t>
            </a:r>
            <a:endParaRPr lang="en-US" sz="1400" dirty="0"/>
          </a:p>
          <a:p>
            <a:pPr indent="0" marL="0">
              <a:buNone/>
            </a:pPr>
            <a:r>
              <a:rPr lang="en-US" sz="1400" dirty="0">
                <a:solidFill>
                  <a:schemeClr val="bg1"/>
                </a:solidFill>
              </a:rPr>
              <a:t>ENIT · Geospatial AI project</a:t>
            </a:r>
            <a:endParaRPr lang="en-US" sz="1400" dirty="0"/>
          </a:p>
        </p:txBody>
      </p:sp>
      <p:sp>
        <p:nvSpPr>
          <p:cNvPr id="6" name="run box"/>
          <p:cNvSpPr/>
          <p:nvPr/>
        </p:nvSpPr>
        <p:spPr>
          <a:xfrm>
            <a:off x="6766560" y="2103120"/>
            <a:ext cx="4892040" cy="2331720"/>
          </a:xfrm>
          <a:prstGeom prst="roundRect">
            <a:avLst>
              <a:gd name="adj" fmla="val 5882"/>
            </a:avLst>
          </a:prstGeom>
          <a:solidFill>
            <a:srgbClr val="173F29"/>
          </a:solidFill>
          <a:ln/>
        </p:spPr>
      </p:sp>
      <p:sp>
        <p:nvSpPr>
          <p:cNvPr id="7" name="run commands"/>
          <p:cNvSpPr txBox="1"/>
          <p:nvPr/>
        </p:nvSpPr>
        <p:spPr>
          <a:xfrm>
            <a:off x="7086600" y="2286000"/>
            <a:ext cx="4389120" cy="2011680"/>
          </a:xfrm>
          <a:prstGeom prst="rect">
            <a:avLst/>
          </a:prstGeom>
          <a:noFill/>
          <a:ln/>
        </p:spPr>
        <p:txBody>
          <a:bodyPr wrap="square" lIns="0" tIns="0" rIns="0" bIns="0" rtlCol="0" anchor="t"/>
          <a:lstStyle/>
          <a:p>
            <a:pPr indent="0" marL="0">
              <a:spcAft>
                <a:spcPts val="800"/>
              </a:spcAft>
              <a:buNone/>
            </a:pPr>
            <a:r>
              <a:rPr lang="en-US" sz="2000" b="1" dirty="0">
                <a:solidFill>
                  <a:schemeClr val="accent2"/>
                </a:solidFill>
              </a:rPr>
              <a:t>Try it</a:t>
            </a:r>
            <a:endParaRPr lang="en-US" sz="2000" dirty="0"/>
          </a:p>
          <a:p>
            <a:pPr indent="0" marL="0">
              <a:spcAft>
                <a:spcPts val="800"/>
              </a:spcAft>
              <a:buNone/>
            </a:pPr>
            <a:r>
              <a:rPr lang="en-US" sz="1400" dirty="0">
                <a:solidFill>
                  <a:schemeClr val="bg1"/>
                </a:solidFill>
                <a:latin typeface="Courier New" pitchFamily="34" charset="0"/>
                <a:ea typeface="Courier New" pitchFamily="34" charset="-122"/>
                <a:cs typeface="Courier New" pitchFamily="34" charset="-120"/>
              </a:rPr>
              <a:t>pip install -r requirements.txt</a:t>
            </a:r>
            <a:endParaRPr lang="en-US" sz="2000" dirty="0"/>
          </a:p>
          <a:p>
            <a:pPr indent="0" marL="0">
              <a:spcAft>
                <a:spcPts val="800"/>
              </a:spcAft>
              <a:buNone/>
            </a:pPr>
            <a:r>
              <a:rPr lang="en-US" sz="1400" dirty="0">
                <a:solidFill>
                  <a:schemeClr val="bg1"/>
                </a:solidFill>
                <a:latin typeface="Courier New" pitchFamily="34" charset="0"/>
                <a:ea typeface="Courier New" pitchFamily="34" charset="-122"/>
                <a:cs typeface="Courier New" pitchFamily="34" charset="-120"/>
              </a:rPr>
              <a:t>streamlit run app/app.py</a:t>
            </a:r>
            <a:endParaRPr lang="en-US" sz="2000" dirty="0"/>
          </a:p>
          <a:p>
            <a:pPr indent="0" marL="0">
              <a:spcAft>
                <a:spcPts val="800"/>
              </a:spcAft>
              <a:buNone/>
            </a:pPr>
            <a:r>
              <a:rPr lang="en-US" sz="1400" dirty="0">
                <a:solidFill>
                  <a:schemeClr val="bg1"/>
                </a:solidFill>
                <a:latin typeface="Courier New" pitchFamily="34" charset="0"/>
                <a:ea typeface="Courier New" pitchFamily="34" charset="-122"/>
                <a:cs typeface="Courier New" pitchFamily="34" charset="-120"/>
              </a:rPr>
              <a:t>python main.py analyze --site Sfax</a:t>
            </a:r>
            <a:endParaRPr lang="en-US" sz="2000" dirty="0"/>
          </a:p>
          <a:p>
            <a:pPr indent="0" marL="0">
              <a:spcAft>
                <a:spcPts val="800"/>
              </a:spcAft>
              <a:buNone/>
            </a:pPr>
            <a:r>
              <a:rPr lang="en-US" sz="1400" dirty="0">
                <a:solidFill>
                  <a:schemeClr val="bg1"/>
                </a:solidFill>
                <a:latin typeface="Courier New" pitchFamily="34" charset="0"/>
                <a:ea typeface="Courier New" pitchFamily="34" charset="-122"/>
                <a:cs typeface="Courier New" pitchFamily="34" charset="-120"/>
              </a:rPr>
              <a:t>docker compose up --build</a:t>
            </a:r>
            <a:endParaRPr lang="en-US" sz="2000" dirty="0"/>
          </a:p>
        </p:txBody>
      </p:sp>
    </p:spTree>
  </p:cSld>
  <p:clrMapOvr>
    <a:masterClrMapping/>
  </p:clrMapOvr>
</p:sld>
</file>

<file path=ppt/theme/theme1.xml><?xml version="1.0" encoding="utf-8"?>
<a:theme xmlns:a="http://schemas.openxmlformats.org/drawingml/2006/main" name="AgroSuit">
  <a:themeElements>
    <a:clrScheme name="AgroSuit">
      <a:dk1>
        <a:srgbClr val="1B2A1F"/>
      </a:dk1>
      <a:lt1>
        <a:srgbClr val="FFFFFF"/>
      </a:lt1>
      <a:dk2>
        <a:srgbClr val="0F2E1D"/>
      </a:dk2>
      <a:lt2>
        <a:srgbClr val="EEF5EE"/>
      </a:lt2>
      <a:accent1>
        <a:srgbClr val="2E7D32"/>
      </a:accent1>
      <a:accent2>
        <a:srgbClr val="F9A825"/>
      </a:accent2>
      <a:accent3>
        <a:srgbClr val="81C784"/>
      </a:accent3>
      <a:accent4>
        <a:srgbClr val="1E88E5"/>
      </a:accent4>
      <a:accent5>
        <a:srgbClr val="C62828"/>
      </a:accent5>
      <a:accent6>
        <a:srgbClr val="6B7A70"/>
      </a:accent6>
      <a:hlink>
        <a:srgbClr val="2E7D32"/>
      </a:hlink>
      <a:folHlink>
        <a:srgbClr val="1B5E20"/>
      </a:folHlink>
    </a:clrScheme>
    <a:fontScheme name="AgroSui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AgroSuit: Crop Suitability Intelligence for North Africa</dc:title>
  <dc:subject>Project presentation</dc:subject>
  <dc:creator>Yahya Houimdi</dc:creator>
  <cp:lastModifiedBy>Yahya Houimdi</cp:lastModifiedBy>
  <cp:revision>1</cp:revision>
  <dcterms:created xsi:type="dcterms:W3CDTF">2026-10-26T19:18:20Z</dcterms:created>
  <dcterms:modified xsi:type="dcterms:W3CDTF">2026-10-26T19:18:20Z</dcterms:modified>
</cp:coreProperties>
</file>